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1002" y="3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1안 (최종 제출안)</c:v>
                </c:pt>
              </c:strCache>
            </c:strRef>
          </c:tx>
          <c:spPr>
            <a:ln w="34925">
              <a:solidFill>
                <a:srgbClr val="1676B2"/>
              </a:solidFill>
            </a:ln>
          </c:spPr>
          <c:marker>
            <c:symbol val="circle"/>
            <c:size val="7"/>
            <c:spPr>
              <a:solidFill>
                <a:srgbClr val="1676B2"/>
              </a:solidFill>
              <a:ln>
                <a:solidFill>
                  <a:srgbClr val="1676B2"/>
                </a:solidFill>
              </a:ln>
            </c:spPr>
          </c:marker>
          <c:dLbls>
            <c:dLbl>
              <c:idx val="6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0A2F4A"/>
                        </a:solidFill>
                        <a:latin typeface="Noto Sans KR"/>
                        <a:ea typeface="Noto Sans KR"/>
                        <a:cs typeface="Noto Sans KR"/>
                      </a:rPr>
                      <a:t>최저 2,506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×1.0</c:v>
                </c:pt>
                <c:pt idx="1">
                  <c:v>×0.8</c:v>
                </c:pt>
                <c:pt idx="2">
                  <c:v>×0.5</c:v>
                </c:pt>
                <c:pt idx="3">
                  <c:v>×0.3</c:v>
                </c:pt>
                <c:pt idx="4">
                  <c:v>×0.2</c:v>
                </c:pt>
                <c:pt idx="5">
                  <c:v>×0.1</c:v>
                </c:pt>
                <c:pt idx="6">
                  <c:v>×0.05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7690</c:v>
                </c:pt>
                <c:pt idx="1">
                  <c:v>7260</c:v>
                </c:pt>
                <c:pt idx="2">
                  <c:v>5980</c:v>
                </c:pt>
                <c:pt idx="3">
                  <c:v>4513</c:v>
                </c:pt>
                <c:pt idx="4">
                  <c:v>3638</c:v>
                </c:pt>
                <c:pt idx="5">
                  <c:v>2660</c:v>
                </c:pt>
                <c:pt idx="6">
                  <c:v>2506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2안 (비교안)</c:v>
                </c:pt>
              </c:strCache>
            </c:strRef>
          </c:tx>
          <c:spPr>
            <a:ln w="34925">
              <a:solidFill>
                <a:srgbClr val="E8A33D"/>
              </a:solidFill>
            </a:ln>
          </c:spPr>
          <c:marker>
            <c:symbol val="circle"/>
            <c:size val="7"/>
            <c:spPr>
              <a:solidFill>
                <a:srgbClr val="E8A33D"/>
              </a:solidFill>
              <a:ln>
                <a:solidFill>
                  <a:srgbClr val="E8A33D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0A2F4A"/>
                        </a:solidFill>
                        <a:latin typeface="Noto Sans KR"/>
                        <a:ea typeface="Noto Sans KR"/>
                        <a:cs typeface="Noto Sans KR"/>
                      </a:rPr>
                      <a:t>최저 2,600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×1.0</c:v>
                </c:pt>
                <c:pt idx="1">
                  <c:v>×0.8</c:v>
                </c:pt>
                <c:pt idx="2">
                  <c:v>×0.5</c:v>
                </c:pt>
                <c:pt idx="3">
                  <c:v>×0.3</c:v>
                </c:pt>
                <c:pt idx="4">
                  <c:v>×0.2</c:v>
                </c:pt>
                <c:pt idx="5">
                  <c:v>×0.1</c:v>
                </c:pt>
                <c:pt idx="6">
                  <c:v>×0.05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4967</c:v>
                </c:pt>
                <c:pt idx="1">
                  <c:v>4294</c:v>
                </c:pt>
                <c:pt idx="2">
                  <c:v>3344</c:v>
                </c:pt>
                <c:pt idx="3">
                  <c:v>2906</c:v>
                </c:pt>
                <c:pt idx="4">
                  <c:v>2620</c:v>
                </c:pt>
                <c:pt idx="5">
                  <c:v>2600</c:v>
                </c:pt>
                <c:pt idx="6">
                  <c:v>2704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전수 검사</c:v>
                </c:pt>
              </c:strCache>
            </c:strRef>
          </c:tx>
          <c:spPr>
            <a:ln w="22225">
              <a:solidFill>
                <a:srgbClr val="8A929A"/>
              </a:solidFill>
              <a:prstDash val="dash"/>
            </a:ln>
          </c:spPr>
          <c:marker>
            <c:symbol val="none"/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0A2F4A"/>
                        </a:solidFill>
                        <a:latin typeface="Noto Sans KR"/>
                        <a:ea typeface="Noto Sans KR"/>
                        <a:cs typeface="Noto Sans KR"/>
                      </a:rPr>
                      <a:t>전수 검사 2,948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×1.0</c:v>
                </c:pt>
                <c:pt idx="1">
                  <c:v>×0.8</c:v>
                </c:pt>
                <c:pt idx="2">
                  <c:v>×0.5</c:v>
                </c:pt>
                <c:pt idx="3">
                  <c:v>×0.3</c:v>
                </c:pt>
                <c:pt idx="4">
                  <c:v>×0.2</c:v>
                </c:pt>
                <c:pt idx="5">
                  <c:v>×0.1</c:v>
                </c:pt>
                <c:pt idx="6">
                  <c:v>×0.05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2948</c:v>
                </c:pt>
                <c:pt idx="1">
                  <c:v>2948</c:v>
                </c:pt>
                <c:pt idx="2">
                  <c:v>2948</c:v>
                </c:pt>
                <c:pt idx="3">
                  <c:v>2948</c:v>
                </c:pt>
                <c:pt idx="4">
                  <c:v>2948</c:v>
                </c:pt>
                <c:pt idx="5">
                  <c:v>2948</c:v>
                </c:pt>
                <c:pt idx="6">
                  <c:v>2948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100" b="0">
                    <a:solidFill>
                      <a:srgbClr val="2E4A60"/>
                    </a:solidFill>
                    <a:latin typeface="Noto Sans KR"/>
                    <a:ea typeface="Noto Sans KR"/>
                    <a:cs typeface="Noto Sans KR"/>
                  </a:rPr>
                  <a:t>정상 확률 배율 (오른쪽일수록 불량으로 더 자주 부름)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ABBBC6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000.0"/>
          <c:min val="0.0"/>
        </c:scaling>
        <c:delete val="0"/>
        <c:axPos val="l"/>
        <c:majorGridlines>
          <c:spPr>
            <a:ln>
              <a:solidFill>
                <a:srgbClr val="E3ECF3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majorUnit val="2000.0"/>
      </c:valAx>
    </c:plotArea>
    <c:legend>
      <c:legendPos val="t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E4A60"/>
          </a:solidFill>
          <a:latin typeface="Noto Sans K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30825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t>[10초] 1조 팀장 ○○○입니다. 다이캐스팅 불량 유형을, 금형을 열기 전에 공정 조건만으로 알 수 있는지 풀었습니다.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t>[35초] 데이터는 7,535샷, 학습 5,274샷과 시험 2,261샷입니다. 정답은 정상과 불량 6종, 7가지이고 학습 데이터 불량률은 22.4%입니다.</a:t>
            </a:r>
          </a:p>
          <a:p>
            <a:r>
              <a:t>이걸 맞히면 현장에서 세 가지가 달라집니다.</a:t>
            </a:r>
          </a:p>
          <a:p>
            <a:r>
              <a:t>첫째, 위험한 샷 상위 20%만 먼저 검사해도 불량의 42%를 찾습니다. 아무 샷이나 20%를 고르면 20%입니다.</a:t>
            </a:r>
          </a:p>
          <a:p>
            <a:r>
              <a:t>둘째, 놓친 불량 1건을 헛경보 10건 값으로 보면 전수 검사보다 9% 쌉니다.</a:t>
            </a:r>
          </a:p>
          <a:p>
            <a:r>
              <a:t>셋째, 불량이 적었던 공정 조건 구간을 찾아 시험 생산 후보로 드립니다.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t>[1분 20초] 데이터에서 찾은 문제 네 가지입니다. 가장 중요한 건 1번입니다.</a:t>
            </a:r>
          </a:p>
          <a:p>
            <a:r>
              <a:t>① 입력 21개가 바로 앞 샷과 똑같은 샷이 3,174개, 42%입니다. 이 쌍둥이들은 97.8%가 불량 종류까지 같습니다. 지우지 않고, 검증할 때 같은 입력끼리 한 묶음으로 같은 쪽에 둡니다. 시험 데이터도 58%가 이런 구조라 이게 점수를 좌우합니다.</a:t>
            </a:r>
          </a:p>
          <a:p>
            <a:r>
              <a:t>② 정상이 77.6%입니다. 기타불량 76건, 얼룩 100건뿐이라 드문 불량에 가중치를 주고, '전부 정상'이라 해도 나오는 정확도 대신 불량 종류별 점수로 평가했습니다.</a:t>
            </a:r>
          </a:p>
          <a:p>
            <a:r>
              <a:t>③ 400샷 단위로 보면 불량률이 1.8%에서 51%까지 흔들리고 shot 4208에서 제품이 바뀝니다. 그래서 검증을 시간순으로도 따로 했고, 원인 분석은 제품 유형별로 했습니다.</a:t>
            </a:r>
          </a:p>
          <a:p>
            <a:r>
              <a:t>④ 공장 온도·습도가 빈 샷 90개는 앞뒤 30샷 중앙값으로 채우고 표시를 남겼고, 이상한 값 15샷은 지우지 않고 표시만 했습니다. 채우는 방식을 바꿔도 점수 차는 0.004였습니다.</a:t>
            </a:r>
          </a:p>
          <a:p>
            <a:r>
              <a:t>(위 띠) 열은 32개에서 식별 열 3개와 값이 하나뿐인 열 8개를 빼 21개, 표시 열 4개를 더해 25개를 씁니다.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t>[30초] 강사님 기준선이 0.2517, 딥러닝 MLP가 0.289, 최종 1안이 리더보드 실제 0.5987입니다.</a:t>
            </a:r>
          </a:p>
          <a:p>
            <a:r>
              <a:t>차이가 큰 이유는 모델 실력보다 '같은 입력을 외우느냐'입니다. 시험의 58%는 학습에 같은 입력이 있어서, 나무 모델은 외워서 93%를 맞히고 MLP는 못 외웁니다. 처음 보는 입력만 놓고 보면 MLP 0.277, 나무 0.279로 같습니다.</a:t>
            </a:r>
          </a:p>
          <a:p>
            <a:r>
              <a:t>최종 1안은 랜덤포레스트와 ExtraTrees 평균에 두 단계 모델과 앞뒤 사건 입력 40개를 더한 것이고, 현장용 비교안으로 입력 25개짜리 2안을 같이 준비했습니다.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t>[40초] 학습 데이터를 20%에서 100%까지 늘려 봤습니다. 이미 본 조건(파란 선)은 0.536에서 0.612로 오르지만, 처음 보는 조건(빨간 선)은 0.193에서 0.253이고 60% 이후로는 거의 평평합니다. 데이터를 다섯 배로 늘려도 새 조건은 0.06밖에 안 오릅니다.</a:t>
            </a:r>
          </a:p>
          <a:p>
            <a:r>
              <a:t>그래서 데이터 양보다 불량과 정상을 가르는 새 측정 항목이 먼저입니다. 가정 계산으로는 불량을 표준편차 1배 이상 가르는 측정이 하나 생겨야 0.268에서 0.297, 2배면 0.400으로 오릅니다.</a:t>
            </a:r>
          </a:p>
          <a:p>
            <a:r>
              <a:t>(epoch 곡선은 보고서 그림 1: 검증 손실이 epoch 18에서 가장 낮고 그 뒤로 외우기 시작)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t>[1분] 처음 보는 입력에서 무엇을 무엇으로 착각했는지입니다. 행이 실제, 열이 모델 답입니다.</a:t>
            </a:r>
          </a:p>
          <a:p>
            <a:r>
              <a:t>불량 1,182건 중 1,043건, 88%를 정상으로 놓쳤습니다. 미충전은 469건 중 434건을 놓치고 12건만 맞혔고, 8건은 기공으로 착각했습니다. 미충전과 기공은 조치가 달라서 이 착각도 비용입니다.</a:t>
            </a:r>
          </a:p>
          <a:p>
            <a:r>
              <a:t>정상 4,092건 중 82건, 2%에는 헛경보를 냈습니다. 그나마 얼룩은 100건 중 29건, 변형은 106건 중 21건을 맞히고, 기타불량 76건은 하나도 못 맞힙니다.</a:t>
            </a:r>
          </a:p>
          <a:p>
            <a:r>
              <a:t>(이 표는 한 번 실행한 결과라, 다음 장의 시드 3개 평균 1,060건과 몇 건 다릅니다.)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t>[45초] 불량 종류마다 '그 불량인가 아닌가'를 따로 학습해서 어떤 조건을 보는지 확인했습니다.</a:t>
            </a:r>
          </a:p>
          <a:p>
            <a:r>
              <a:t>미충전은 고속 사출 속도와 용탕로 온도, 기공은 고속 사출 속도와 냉각수 온도, 박리는 이형제 분사 시간을 봅니다. 구분 점수는 0.5가 찍기, 1.0이 완벽인데 기공 0.90, 박리 0.83, 미충전 0.75입니다.</a:t>
            </a:r>
          </a:p>
          <a:p>
            <a:r>
              <a:t>단, 중요하다는 건 예측에 쓸모가 있다는 뜻이지 원인이라는 뜻은 아닙니다.</a:t>
            </a:r>
          </a:p>
          <a:p>
            <a:r>
              <a:t>공장 온도·습도와 냉각수 온도는 시기에 따라 같이 변하는 값일 가능성이 커서 원인으로 보지 않습니다.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t>[50초] 두 안을 같은 학습 데이터로 비교했습니다. 처음 보는 샷 기준으로 1안은 불량 1,182건 중 122건, 10%만 잡고 헛경보는 정상의 2%입니다. 2안은 568건, 48%를 잡는 대신 헛경보가 18%입니다.</a:t>
            </a:r>
          </a:p>
          <a:p>
            <a:r>
              <a:t>검증 방식을 바꾸면 순위가 뒤집힙니다. 리더보드와 비슷한 무작위 분할에서는 1안이 0.560으로 높고, 처음 보는 입력에서는 2안이 0.338로 높고, 시간순에서는 둘 다 '전부 정상' 수준인 0.11~0.13입니다. 현장 배포에 가까운 건 시간순입니다.</a:t>
            </a:r>
          </a:p>
          <a:p>
            <a:r>
              <a:t>그래서 채점용 제출은 1안, 현장 운영 후보는 2안으로 나눴습니다. public 차이 0.028은 private 표본 흔들림(SD 0.037) 안입니다.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t>[1분 10초] 현장에서 쓸 기준입니다. 놓친 불량 1건을 헛경보 10건 값으로 보고, 하루 3,800샷 기준으로 계산했습니다.</a:t>
            </a:r>
          </a:p>
          <a:p>
            <a:r>
              <a:t>제출 기준 그대로(×1.0)면 하루 154샷만 검사해 놓침 759건, 헛경보 61건, 총비용 7,650입니다.</a:t>
            </a:r>
          </a:p>
          <a:p>
            <a:r>
              <a:t>정상 확률에 0.1을 곱해 불량을 더 자주 부르면 하루 2,575샷, 68%를 검사하고 놓침 87건, 헛경보 1,810건, 총비용 2,677로 전수 검사 2,948보다 9% 쌉니다. 가장 싼 건 ×0.05(2,523)지만 80%를 검사해야 해서, 6% 차이인 ×0.1을 골랐습니다.</a:t>
            </a:r>
          </a:p>
          <a:p>
            <a:r>
              <a:t>비율에 따라 결론이 바뀝니다. 5:1이면 24% 싸고, 20:1이면 전수 검사와 차이가 없습니다.</a:t>
            </a:r>
          </a:p>
          <a:p>
            <a:r>
              <a:t>2안도 기준을 맞추면 최저 비용 차이가 4% 안이라, 비용을 정하는 건 모델보다 경보 기준입니다. 이 비율은 현장에서 정해 주셔야 합니다.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t>[1분 10초] 제품 유형 2에서 고속 사출 속도가 2.537을 넘는 구간은 미충전이 15.8%에서 5.3%였고, 2.543을 넘으면 기공이 12.3%에서 0.7%였습니다. 제품 유형 1에서 이형제 분사 시간이 8.1을 넘으면 박리가 9.8%에서 1.8%였습니다.</a:t>
            </a:r>
          </a:p>
          <a:p>
            <a:r>
              <a:t>다만 구간 경계를 같은 데이터에서 골랐고, 속도가 높은 샷은 금형 온도나 작업 시기와 같이 움직였을 수 있습니다. 그래서 원인이라고 말하지 않습니다.</a:t>
            </a:r>
          </a:p>
          <a:p>
            <a:r>
              <a:t>그 조건만 바꾼 시험 생산으로 같은 제품·같은 시기에서 불량률을 비교해야 확인됩니다. 그 전까지는 관리 후보입니다.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t>[25초] 한 번에 하나씩 바꿔 20여 가지를 시험했는데, 앞뒤 샷 공정 조건 40개를 넣은 것만 일관되게 올랐고(+0.0045) 나머지는 시드만 바꿔도 흔들리는 ±0.005 안이었습니다. 불량을 더 부르게 하면 포착은 늘지만 점수는 떨어졌습니다.</a:t>
            </a:r>
          </a:p>
          <a:p>
            <a:r>
              <a:t>18개 모델의 구분 점수가 모두 0.72~0.75라, 한계는 모델이 아니라 입력 정보에 있습니다.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t>[45초] 내일 이걸 쓴다면 두 가지입니다.</a:t>
            </a:r>
          </a:p>
          <a:p>
            <a:r>
              <a:t>첫째, 경보 기준을 ×0.1로 낮춰 하루 2,575샷을 검사합니다. 사람이 부족하면 위험 순위 상위 20%부터 보시면 불량의 42%를 찾습니다.</a:t>
            </a:r>
          </a:p>
          <a:p>
            <a:r>
              <a:t>둘째, 원인 후보 조건 세 가지를 시험 생산으로 확인해 주십시오.</a:t>
            </a:r>
          </a:p>
          <a:p>
            <a:r>
              <a:t>지금 쓰면 하루 헛경보가 1,810건입니다. 쓸지 말지는 이 선에서 정해 주시면 됩니다.</a:t>
            </a:r>
          </a:p>
          <a:p>
            <a:r>
              <a:t>한계도 분명합니다. 제출 기준 그대로면 새 샷 불량의 10%만 잡고, ×0.1로 낮추면 약 90%를 잡는 대신 정상의 61%에 헛경보가 납니다. 1안은 뒤 샷 정보가 필요해 사후 일괄 선별용이고, 실시간 판정이 필요하면 입력 25개짜리 2안을 씁니다.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t>[25초] AI는 코드와 실험 설계에 썼고, 숫자는 전부 직접 돌려 확인했습니다. 기각한 조언 네 개입니다.</a:t>
            </a:r>
          </a:p>
          <a:p>
            <a:r>
              <a:t>쌍둥이의 정답을 찾아 쓰라는 건 계산해 보니 0.58에 그쳤고 규칙상 금지입니다.</a:t>
            </a:r>
          </a:p>
          <a:p>
            <a:r>
              <a:t>불량을 더 부르면 점수가 오른다는 것, 정상 확률을 0.3~0.4배로 낮추면 0.6을 넘는다는 것은 직접 재 보니 점수가 내려갔습니다.</a:t>
            </a:r>
          </a:p>
          <a:p>
            <a:r>
              <a:t>내부 점수로 리더보드를 맞힐 수 있다는 것도 1안은 0.024 높게, 2안은 0.02 낮게 빗나가 순위 예측에 쓰지 않았습니다.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t>감사합니다. 질문 받겠습니다.</a:t>
            </a:r>
          </a:p>
          <a:p>
            <a:r>
              <a:t>(이 뒤의 부록 A1~A6은 발표하지 않고, 질문이 오면 해당 장으로 넘겨서 띄웁니다. 질문 → 부록 대응표는 발표스크립트_1조.md)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t>[공통 7번] 왜 그 모델을 최종으로 골랐습니까? 2등 모델과 뭐가 달랐습니까?</a:t>
            </a:r>
          </a:p>
          <a:p>
            <a:r>
              <a:t>- public 점수 순 2등은 2안이 아니라 C안(0.5906, ExtraTrees 잎1 + RF 잎6)입니다. 1안과 차이 0.008로 흔들림(SD 0.037) 안이라 public만으로는 가를 수 없습니다.</a:t>
            </a:r>
          </a:p>
          <a:p>
            <a:r>
              <a:t>- 그래서 학습 데이터만으로 다시 쟀습니다. 리더보드 구조 추정은 1안 0.623이 가장 높고(C안 0.614), 처음 보는 입력은 2안 0.327이 가장 높습니다.</a:t>
            </a:r>
          </a:p>
          <a:p>
            <a:r>
              <a:t>- 그래서 제출은 1안, 현장 비교안은 성격이 정반대인 2안으로 골랐습니다.</a:t>
            </a:r>
          </a:p>
          <a:p>
            <a:r>
              <a:t>- 10/26 세 건: 2안 0.5710(추정 0.549 / 새 입력 0.327), B안 0.5747(0.596 / 0.300), C안 0.5906(0.614 / 0.296).</a:t>
            </a:r>
          </a:p>
          <a:p>
            <a:r>
              <a:t>- 1안은 1안 계열로 4회차, 팀 전체 제출로는 5번째입니다.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t>[공통 13번] 라벨 7종은 어떻게 만들어졌다고 봅니까? 기타불량에는 무엇이? 두 종류가 찍히면?</a:t>
            </a:r>
          </a:p>
          <a:p>
            <a:r>
              <a:t>- 원본 불량 기록은 13유형 × _1/_2 = 26열입니다. 이걸 샷 하나에 라벨 하나로 접은 것이 7종입니다.</a:t>
            </a:r>
          </a:p>
          <a:p>
            <a:r>
              <a:t>- 저희가 직접 접어 봤습니다. 미충전 &gt; 기공 &gt; 박리 &gt; 변형 &gt; 얼룩 &gt; 기타 순서로, _1과 _2를 둘 다 보면 정답과 불일치 0건입니다. _1만 쓰면 323건, _2만 쓰면 830건이 어긋납니다.</a:t>
            </a:r>
          </a:p>
          <a:p>
            <a:r>
              <a:t>- 두 종류가 찍힌 샷은 85행(이름 있는 5종 기준 78행)이고, 우선순위가 높은 하나만 남습니다. 예: 얼룩이 찍힌 133행 중 33행은 미충전·기공 라벨이 붙었습니다.</a:t>
            </a:r>
          </a:p>
          <a:p>
            <a:r>
              <a:t>- 사라지는 것: 두 번째 불량, _1/_2 구분(불량 행의 98%에서 값이 달라 사본 아님), 값 2(49칸)·3(1칸).</a:t>
            </a:r>
          </a:p>
          <a:p>
            <a:r>
              <a:t>- 기타불량 76행 중 Bubble 52건. 서로 다른 희소 유형을 묶어서 모델은 76건 중 0건을 맞힙니다 → 운영은 종류 판정보다 검사 대상 선별.</a:t>
            </a:r>
          </a:p>
          <a:p>
            <a:r>
              <a:t>- _1/_2 의미: 위치(면)·검사 단계·캐비티 세 가설을 세워 검증했지만 확정 못 했습니다.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t>[1조 8번 + 현장 수정] 임계값(class_weight)을 어떻게 정했습니까? 경보 기준을 바꿔 다시 돌려 보세요.</a:t>
            </a:r>
          </a:p>
          <a:p>
            <a:r>
              <a:t>- main.py 40행 TEAM_NAME = "1조_alert05"(제출 파일 덮어쓰기 방지), 73행 ALERT_NORMAL_SCALE = 부른 값 → python main.py</a:t>
            </a:r>
          </a:p>
          <a:p>
            <a:r>
              <a:t>- 출력의 '불량 1182건 중 ○건 탐지', '정상 4092건 중 ○건을 불량이라 함' 두 숫자를 읽고, 놓침 = 1,182 − 탐지.</a:t>
            </a:r>
          </a:p>
          <a:p>
            <a:r>
              <a:t>- ×1.0 → ×0.5: 탐지 137 → 393, 놓침 1,045 → 789(−256), 헛경보 85 → 439(+354). 놓침 1건 줄일 때 헛경보 약 1.4건 → 10:1 가정이면 이득.</a:t>
            </a:r>
          </a:p>
          <a:p>
            <a:r>
              <a:t>- class_weight는 balanced의 0.5제곱. 0.3·0.75·1.0으로 바꿔도 −0.0002·+0.0006·−0.0007이라 0.5 유지.</a:t>
            </a:r>
          </a:p>
          <a:p>
            <a:r>
              <a:t>- 0으로 해도 반만 꺼집니다: 7종 한 번에 고르는 쪽만 이 값을 쓰고, 두 단계 쪽은 balanced_subsample·balanced로 고정(301–302행).</a:t>
            </a:r>
          </a:p>
          <a:p>
            <a:r>
              <a:t>- 끝나면 "1조", 1.0으로 되돌립니다.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t>[물을 수도] 2안이 현장에 더 맞다면서 왜 2안을 제출하지 않았습니까?</a:t>
            </a:r>
          </a:p>
          <a:p>
            <a:r>
              <a:t>- 채점은 7종 macro F1이고 시험의 58%가 같은 입력이라 그 구조에서는 1안이 높습니다. 현장은 처음 보는 입력이 오니 2안을 운영 후보로 둡니다.</a:t>
            </a:r>
          </a:p>
          <a:p>
            <a:r>
              <a:t>- ×1.0끼리 비교하면 2안이 35% 넘게 싸 보이지만(1,000샷당 1,307 대 2,024), 모델마다 기준을 따로 맞추면 최저 비용은 660 대 684로 4% 안입니다.</a:t>
            </a:r>
          </a:p>
          <a:p>
            <a:r>
              <a:t>- 그래프: 하루 3,800샷, 10:1, 처음 보는 입력. 1안 최저 2,506(×0.05), 2안 최저 2,600(×0.1), 전수 검사 2,948.</a:t>
            </a:r>
          </a:p>
          <a:p>
            <a:r>
              <a:t>- 비용을 정하는 건 모델 종류보다 경보 기준입니다. 2안은 입력 25개라 설명이 쉽고 실시간 판정이 됩니다.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t>[숫자를 되물을 때] 띄운 화면의 숫자를 말하고, 다르다고 하면 '검증 방식과 시드 수가 달라서'라고 답합니다. 결론은 어느 숫자로 봐도 같습니다.</a:t>
            </a:r>
          </a:p>
          <a:p>
            <a:r>
              <a:t>- 0.608은 1안이 아니라 '잎 2' 변형의 점수입니다. 1안 자신은 0.610(잎 비교) · 0.612(학습곡선) · 0.623(시드 4개)입니다.</a:t>
            </a:r>
          </a:p>
          <a:p>
            <a:r>
              <a:t>- 흔들림은 SD 0.037로 통일합니다(private 1,131샷 표본). 0.03은 반올림한 옛 표기입니다.</a:t>
            </a:r>
          </a:p>
          <a:p>
            <a:r>
              <a:t>- 이전 발표 자료의 '1,043건(90%)'은 88%가 맞고, 기공 기준값은 2.537이 아니라 2.543입니다.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t>[분할 질문] 앞뒤 샷 입력으로 특징을 만들었으면 검증은 어떻게 나눠야 점수가 정직합니까? / 무작위와 시간순 점수가 얼마나 달랐습니까?</a:t>
            </a:r>
          </a:p>
          <a:p>
            <a:r>
              <a:t>- 앞뒤 사건 입력은 입력값만 씁니다. 이웃 샷의 정답(라벨)은 쓰지 않습니다(규칙 준수).</a:t>
            </a:r>
          </a:p>
          <a:p>
            <a:r>
              <a:t>- 그래도 이웃 샷이 학습과 검증으로 갈라지면 같은 시기를 본 셈이라, 같은 입력을 같은 쪽에 두는 분할에 더해 연속 100샷 통째 분할과 시간순 분할로 따로 쟀습니다.</a:t>
            </a:r>
          </a:p>
          <a:p>
            <a:r>
              <a:t>- 1안은 0.258 → 0.136 → 0.125로 떨어지고, 시간순에서는 탐지 0%입니다. 무작위 80/20의 0.560은 시간순 0.125의 4배가 넘게 부풀어 있습니다.</a:t>
            </a:r>
          </a:p>
          <a:p>
            <a:r>
              <a:t>- 현장 배포 성능에 가까운 건 시간순입니다. 앞 사건만 쓰면 이득이 사라지므로(−0.0002) 실시간은 앞 사건만 쓰는 변형이나 2안을 씁니다.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2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06400" y="215900"/>
            <a:ext cx="11722100" cy="462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2800" dirty="0">
                <a:solidFill>
                  <a:srgbClr val="0A2F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2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406400" y="982960"/>
            <a:ext cx="10972800" cy="5062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0A2F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06400" y="215900"/>
            <a:ext cx="11722100" cy="462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2800" dirty="0">
                <a:solidFill>
                  <a:srgbClr val="0A2F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28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406400" y="982960"/>
            <a:ext cx="10972800" cy="5062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0A2F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5.xml"/><Relationship Id="rId7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10.xml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18.xml"/><Relationship Id="rId7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F4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155448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" y="2157984"/>
            <a:ext cx="758952" cy="731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" y="239572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6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주조 불량 유형 예측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" y="3666744"/>
            <a:ext cx="10881360" cy="4846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8FD0F5"/>
                </a:solidFill>
                <a:latin typeface="Noto Sans KR"/>
                <a:ea typeface="Noto Sans KR"/>
                <a:cs typeface="Noto Sans KR"/>
              </a:rPr>
              <a:t>다이캐스팅 불량, 금형을 열기 전에 잡아낸다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4379976"/>
            <a:ext cx="108813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0">
                <a:solidFill>
                  <a:srgbClr val="CFE6F5"/>
                </a:solidFill>
                <a:latin typeface="Noto Sans KR"/>
                <a:ea typeface="Noto Sans KR"/>
                <a:cs typeface="Noto Sans KR"/>
              </a:rPr>
              <a:t>1조 · 포스코 K-뉴딜아카데미 딥러닝 최종 프로젝트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14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12191695" cy="54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2336" y="201168"/>
            <a:ext cx="114300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문제: 불량 유형을 미리 알 수 있는가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9568" y="6153912"/>
            <a:ext cx="1527048" cy="40233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6117336"/>
            <a:ext cx="1271016" cy="42976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84831" y="3410712"/>
            <a:ext cx="859536" cy="1115568"/>
          </a:xfrm>
          <a:prstGeom prst="rect">
            <a:avLst/>
          </a:prstGeom>
          <a:solidFill>
            <a:srgbClr val="C5DEEE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15000" y="3410712"/>
            <a:ext cx="859536" cy="1115568"/>
          </a:xfrm>
          <a:prstGeom prst="rect">
            <a:avLst/>
          </a:prstGeom>
          <a:solidFill>
            <a:srgbClr val="C5DEEE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299448" y="3410712"/>
            <a:ext cx="859536" cy="1115568"/>
          </a:xfrm>
          <a:prstGeom prst="rect">
            <a:avLst/>
          </a:prstGeom>
          <a:solidFill>
            <a:srgbClr val="C5DEEE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3816" y="1453896"/>
            <a:ext cx="10570464" cy="768096"/>
          </a:xfrm>
          <a:prstGeom prst="roundRect">
            <a:avLst>
              <a:gd name="adj" fmla="val 14285"/>
            </a:avLst>
          </a:prstGeom>
          <a:solidFill>
            <a:srgbClr val="0B5A8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금형을 열기 전, 공정 조건만으로 불량 유형을 알 수 있는가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487168"/>
            <a:ext cx="3364992" cy="1106424"/>
          </a:xfrm>
          <a:prstGeom prst="roundRect">
            <a:avLst>
              <a:gd name="adj" fmla="val 9917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51760"/>
            <a:ext cx="3364992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7,535샷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154680"/>
            <a:ext cx="33649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학습 5,274 · 시험 2,261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270248"/>
            <a:ext cx="3364992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62272"/>
            <a:ext cx="336499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검사 대상 선별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18888"/>
            <a:ext cx="3182112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위험한 샷 상위 20%를 먼저 검사하면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불량의 42% 발견 (무작위면 20%)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16552" y="2487168"/>
            <a:ext cx="3364992" cy="1106424"/>
          </a:xfrm>
          <a:prstGeom prst="roundRect">
            <a:avLst>
              <a:gd name="adj" fmla="val 9917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6552" y="2651760"/>
            <a:ext cx="3364992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1676B2"/>
                </a:solidFill>
                <a:latin typeface="Noto Sans KR"/>
                <a:ea typeface="Noto Sans KR"/>
                <a:cs typeface="Noto Sans KR"/>
              </a:rPr>
              <a:t>7가지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2" y="3154680"/>
            <a:ext cx="33649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정상 + 불량 6종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4270248"/>
            <a:ext cx="3364992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6552" y="4462272"/>
            <a:ext cx="336499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검사 비용 절감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7992" y="4818888"/>
            <a:ext cx="3182112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놓침 1건 = 헛경보 10건으로 보면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전수 검사보다 9% 저렴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2487168"/>
            <a:ext cx="3364992" cy="1106424"/>
          </a:xfrm>
          <a:prstGeom prst="roundRect">
            <a:avLst>
              <a:gd name="adj" fmla="val 9917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2651760"/>
            <a:ext cx="3364992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22.4%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3154680"/>
            <a:ext cx="336499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학습 데이터 불량률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01000" y="4270248"/>
            <a:ext cx="3364992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0" y="4462272"/>
            <a:ext cx="336499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공정 관리 후보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4818888"/>
            <a:ext cx="3182112" cy="594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불량이 적었던 조건 구간을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시험 생산으로 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705856"/>
            <a:ext cx="1088136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맞히면 현장에서 달라지는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14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12191695" cy="54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2336" y="201168"/>
            <a:ext cx="114300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데이터에서 찾은 것 4가지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9568" y="6153912"/>
            <a:ext cx="1527048" cy="40233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6117336"/>
            <a:ext cx="1271016" cy="4297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1133856"/>
            <a:ext cx="11365992" cy="457200"/>
          </a:xfrm>
          <a:prstGeom prst="roundRect">
            <a:avLst>
              <a:gd name="adj" fmla="val 20000"/>
            </a:avLst>
          </a:prstGeom>
          <a:solidFill>
            <a:srgbClr val="E6F2FA"/>
          </a:solidFill>
          <a:ln>
            <a:noFill/>
          </a:ln>
        </p:spPr>
        <p:txBody>
          <a:bodyPr rtlCol="0" anchor="ctr" wrap="square" lIns="228600" rIns="228600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열 정리  </a:t>
            </a:r>
            <a:r>
              <a:rPr sz="13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원본 32열 → 식별 열 3개(shot_id·id·Shot, 규칙상 금지) + 값이 하나뿐인 열 8개 제거 → 공정·센서 21개 + 표시 열 4개 = </a:t>
            </a:r>
            <a:r>
              <a:rPr sz="13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입력 25개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783080"/>
            <a:ext cx="5577840" cy="201168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" y="1938528"/>
            <a:ext cx="512064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① 같은 입력이 반복되는 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2276856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42%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2761488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확인: 입력 21개가 바로 앞 샷과 똑같은 샷 3,174개, 그중 97.8%는 불량 종류도 같음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246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676B2"/>
                </a:solidFill>
                <a:latin typeface="Noto Sans KR"/>
                <a:ea typeface="Noto Sans KR"/>
                <a:cs typeface="Noto Sans KR"/>
              </a:rPr>
              <a:t>처리: 지우지 않고 같은 입력끼리 한 묶음으로 검증 (시험 데이터도 58%가 같은 구조)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783080"/>
            <a:ext cx="5577840" cy="201168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64808" y="1938528"/>
            <a:ext cx="512064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② 정상에 쏠린 데이터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2276856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정상 77.6%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2761488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확인: 기타불량 76건, 얼룩 100건뿐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32461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676B2"/>
                </a:solidFill>
                <a:latin typeface="Noto Sans KR"/>
                <a:ea typeface="Noto Sans KR"/>
                <a:cs typeface="Noto Sans KR"/>
              </a:rPr>
              <a:t>처리: 드문 불량에 가중치(balanced의 0.5제곱), 정확도 대신 불량 종류별 점수(macro F1)로 평가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931920"/>
            <a:ext cx="5577840" cy="201168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4087368"/>
            <a:ext cx="512064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③ 제품 유형·시기별 불량 쏠림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" y="4425696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1.8~51%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4910328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확인: 400샷 단위 불량률이 1.8~51%, shot 4208에서 제품 전환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" y="53949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676B2"/>
                </a:solidFill>
                <a:latin typeface="Noto Sans KR"/>
                <a:ea typeface="Noto Sans KR"/>
                <a:cs typeface="Noto Sans KR"/>
              </a:rPr>
              <a:t>처리: 검증을 같은 입력 묶음·시간순으로 따로, 원인 분석은 제품 유형별로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2" y="3931920"/>
            <a:ext cx="5577840" cy="201168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8" y="4087368"/>
            <a:ext cx="512064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④ 빈 값·이상 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8" y="4425696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90샷 + 15샷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4910328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확인: 공장 온도·습도가 빈 샷 90개(전부 제품 유형 2), 이상 값 15개(속도 0·긴 사이클)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808" y="539496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676B2"/>
                </a:solidFill>
                <a:latin typeface="Noto Sans KR"/>
                <a:ea typeface="Noto Sans KR"/>
                <a:cs typeface="Noto Sans KR"/>
              </a:rPr>
              <a:t>처리: 앞뒤 30샷 중앙값으로 채우고 표시 열 추가, 이상 값은 지우지 않고 표시 (방식 간 점수 차 0.004)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14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12191695" cy="54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2336" y="201168"/>
            <a:ext cx="114300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접근 방법: 기준 모델에서 최종 모델까지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9568" y="6153912"/>
            <a:ext cx="1527048" cy="40233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6117336"/>
            <a:ext cx="1271016" cy="4297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234440"/>
            <a:ext cx="53949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38988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1 · 기준 모델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325880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0.2517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73736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강사 공개 기준선(로지스틱)의 리더보드 점수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21992"/>
            <a:ext cx="53949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2 · 딥러닝(MLP)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313432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0.289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7249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입력 25 → 128 → 64 → 7, epoch 18에서 멈춤 · 리더보드 구조로 검증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09544"/>
            <a:ext cx="5394960" cy="841248"/>
          </a:xfrm>
          <a:prstGeom prst="roundRect">
            <a:avLst>
              <a:gd name="adj" fmla="val 13043"/>
            </a:avLst>
          </a:prstGeom>
          <a:solidFill>
            <a:srgbClr val="E6F2FA"/>
          </a:solidFill>
          <a:ln w="19050">
            <a:solidFill>
              <a:srgbClr val="1676B2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3649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3 · 최종 1안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300984"/>
            <a:ext cx="219456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0.5987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712464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리더보드 실제 점수 (public)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261104"/>
            <a:ext cx="5394960" cy="1664208"/>
          </a:xfrm>
          <a:prstGeom prst="roundRect">
            <a:avLst>
              <a:gd name="adj" fmla="val 6593"/>
            </a:avLst>
          </a:prstGeom>
          <a:solidFill>
            <a:srgbClr val="0B5A8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425696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8FD0F5"/>
                </a:solidFill>
                <a:latin typeface="Noto Sans KR"/>
                <a:ea typeface="Noto Sans KR"/>
                <a:cs typeface="Noto Sans KR"/>
              </a:rPr>
              <a:t>최종 제출: 1안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754880"/>
            <a:ext cx="502920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F4F9FD"/>
                </a:solidFill>
                <a:latin typeface="Noto Sans KR"/>
                <a:ea typeface="Noto Sans KR"/>
                <a:cs typeface="Noto Sans KR"/>
              </a:rPr>
              <a:t>• 랜덤포레스트 + ExtraTrees 확률 평균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F4F9FD"/>
                </a:solidFill>
                <a:latin typeface="Noto Sans KR"/>
                <a:ea typeface="Noto Sans KR"/>
                <a:cs typeface="Noto Sans KR"/>
              </a:rPr>
              <a:t>• 두 단계: 불량인가 → 어떤 불량인가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00" b="0">
                <a:solidFill>
                  <a:srgbClr val="F4F9FD"/>
                </a:solidFill>
                <a:latin typeface="Noto Sans KR"/>
                <a:ea typeface="Noto Sans KR"/>
                <a:cs typeface="Noto Sans KR"/>
              </a:rPr>
              <a:t>• 앞뒤 사건의 입력값 40개 추가 (입력 25 → 65개)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1234440"/>
            <a:ext cx="493776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0" y="1389888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점수 차이는 어디서 왔나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173736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58%</a:t>
            </a:r>
            <a:r>
              <a:rPr sz="120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  시험 샷 중 학습에 같은 입력이 있는 비율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395728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리더보드 구조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2670048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MLP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55279" y="2697479"/>
            <a:ext cx="1321308" cy="182880"/>
          </a:xfrm>
          <a:prstGeom prst="rect">
            <a:avLst/>
          </a:prstGeom>
          <a:solidFill>
            <a:srgbClr val="8A929A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2308" y="2670048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0.289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2944368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나무(1안 계열)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2971799"/>
            <a:ext cx="2651760" cy="18288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52760" y="2944368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0.58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3328415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처음 보는 입력만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3602735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MLP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55279" y="3630167"/>
            <a:ext cx="1266444" cy="182880"/>
          </a:xfrm>
          <a:prstGeom prst="rect">
            <a:avLst/>
          </a:prstGeom>
          <a:solidFill>
            <a:srgbClr val="8A929A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67444" y="3602735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0.277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3877055"/>
            <a:ext cx="12344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나무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79" y="3904487"/>
            <a:ext cx="1275588" cy="18288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76588" y="3877055"/>
            <a:ext cx="6400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0.279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4206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676B2"/>
                </a:solidFill>
                <a:latin typeface="Noto Sans KR"/>
                <a:ea typeface="Noto Sans KR"/>
                <a:cs typeface="Noto Sans KR"/>
              </a:rPr>
              <a:t>→ 차이는 모델 품질보다 '같은 입력을 외우는가'에서 나온다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46520" y="4754880"/>
            <a:ext cx="4937760" cy="1170432"/>
          </a:xfrm>
          <a:prstGeom prst="roundRect">
            <a:avLst>
              <a:gd name="adj" fmla="val 9375"/>
            </a:avLst>
          </a:prstGeom>
          <a:solidFill>
            <a:srgbClr val="E6F2FA"/>
          </a:solidFill>
          <a:ln w="19050">
            <a:solidFill>
              <a:srgbClr val="E8A33D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0" y="48737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4A3208"/>
                </a:solidFill>
                <a:latin typeface="Noto Sans KR"/>
                <a:ea typeface="Noto Sans KR"/>
                <a:cs typeface="Noto Sans KR"/>
              </a:rPr>
              <a:t>2안 · 현장성을 높인 비교안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519379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랜덤포레스트 2개 평균 · 입력 25개 · 뒤 사건 입력이 필요 없어 실시간 판정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14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12191695" cy="54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2336" y="201168"/>
            <a:ext cx="114300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학습곡선: 데이터를 더 모으면 좋아지는가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9568" y="6153912"/>
            <a:ext cx="1527048" cy="40233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6117336"/>
            <a:ext cx="1271016" cy="429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3816" y="1069848"/>
            <a:ext cx="57607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데이터를 20% → 100%로 늘리면: 처음 보는 조건 +0.06 · 이미 본 조건 +0.08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389888"/>
            <a:ext cx="5577840" cy="347472"/>
          </a:xfrm>
          <a:prstGeom prst="roundRect">
            <a:avLst>
              <a:gd name="adj" fmla="val 26315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05840" y="1536192"/>
            <a:ext cx="219456" cy="54864"/>
          </a:xfrm>
          <a:prstGeom prst="roundRect">
            <a:avLst>
              <a:gd name="adj" fmla="val 50000"/>
            </a:avLst>
          </a:prstGeom>
          <a:solidFill>
            <a:srgbClr val="8A929A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453896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무작위 검증(같은 입력 섞임)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536192"/>
            <a:ext cx="219456" cy="54864"/>
          </a:xfrm>
          <a:prstGeom prst="roundRect">
            <a:avLst>
              <a:gd name="adj" fmla="val 50000"/>
            </a:avLst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39" y="1453896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리더보드 구조 가중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2040" y="1536192"/>
            <a:ext cx="219456" cy="54864"/>
          </a:xfrm>
          <a:prstGeom prst="roundRect">
            <a:avLst>
              <a:gd name="adj" fmla="val 50000"/>
            </a:avLst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59" y="1453896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처음 보는 조건만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16" y="1819656"/>
            <a:ext cx="5586984" cy="309981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656832" y="1225296"/>
            <a:ext cx="4709160" cy="1133856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4576" y="1335024"/>
            <a:ext cx="436168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처음 보는 조건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94576" y="1563624"/>
            <a:ext cx="43616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0.193 → 0.253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2011680"/>
            <a:ext cx="43616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데이터 60% 이후 더 오르지 않음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56832" y="2496312"/>
            <a:ext cx="4709160" cy="1133856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94576" y="2606040"/>
            <a:ext cx="436168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이미 본 조건(리더보드 구조)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4576" y="2834640"/>
            <a:ext cx="43616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1676B2"/>
                </a:solidFill>
                <a:latin typeface="Noto Sans KR"/>
                <a:ea typeface="Noto Sans KR"/>
                <a:cs typeface="Noto Sans KR"/>
              </a:rPr>
              <a:t>0.536 → 0.612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3282696"/>
            <a:ext cx="43616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같은 조건을 외워 상승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56832" y="3767328"/>
            <a:ext cx="4709160" cy="1133856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4576" y="3877056"/>
            <a:ext cx="436168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같은 조건이 섞인 검증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4105656"/>
            <a:ext cx="43616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1676B2"/>
                </a:solidFill>
                <a:latin typeface="Noto Sans KR"/>
                <a:ea typeface="Noto Sans KR"/>
                <a:cs typeface="Noto Sans KR"/>
              </a:rPr>
              <a:t>0.268 → 0.565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4576" y="4553712"/>
            <a:ext cx="43616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같은 조건이 학습에 들어와 크게 상승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" y="5029200"/>
            <a:ext cx="10570464" cy="896112"/>
          </a:xfrm>
          <a:prstGeom prst="roundRect">
            <a:avLst>
              <a:gd name="adj" fmla="val 12244"/>
            </a:avLst>
          </a:prstGeom>
          <a:solidFill>
            <a:srgbClr val="0B5A8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120640"/>
            <a:ext cx="1014984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새로운 조건의 불량을 잡으려면 데이터 양보다 </a:t>
            </a:r>
            <a:r>
              <a:rPr sz="1600" b="1">
                <a:solidFill>
                  <a:srgbClr val="FFD08A"/>
                </a:solidFill>
                <a:latin typeface="Noto Sans KR"/>
                <a:ea typeface="Noto Sans KR"/>
                <a:cs typeface="Noto Sans KR"/>
              </a:rPr>
              <a:t>새로운 측정 항목</a:t>
            </a:r>
            <a:r>
              <a:rPr sz="16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이 우선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5504688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CFE6F5"/>
                </a:solidFill>
                <a:latin typeface="Noto Sans KR"/>
                <a:ea typeface="Noto Sans KR"/>
                <a:cs typeface="Noto Sans KR"/>
              </a:rPr>
              <a:t>가정 계산: 불량을 표준편차 1배 이상 가르는 측정이 있어야 0.268 → 0.297, 2배면 0.400 (탐지율 14% → 41%)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F4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14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12191695" cy="54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2336" y="201168"/>
            <a:ext cx="114300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뭘 뭐로 착각했나: 놓친 불량 1,043건(88%)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9568" y="6153912"/>
            <a:ext cx="1527048" cy="40233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6117336"/>
            <a:ext cx="1271016" cy="4297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234440"/>
            <a:ext cx="5623560" cy="4709160"/>
          </a:xfrm>
          <a:prstGeom prst="roundRect">
            <a:avLst>
              <a:gd name="adj" fmla="val 2912"/>
            </a:avLst>
          </a:prstGeom>
          <a:solidFill>
            <a:srgbClr val="FFFFFF"/>
          </a:solidFill>
          <a:ln w="25400">
            <a:solidFill>
              <a:srgbClr val="1676B2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84248" y="1389888"/>
            <a:ext cx="41925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모델이 말한 라벨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38528" y="1700784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정상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37460" y="1700784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미충전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1700784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기공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35324" y="1700784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박리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256" y="1700784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얼룩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3188" y="1700784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변형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1700784"/>
            <a:ext cx="649224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기타불량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017520"/>
            <a:ext cx="27432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실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제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라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벨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207568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정상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84248" y="1965960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0B3A63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4,010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83180" y="1965960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C8D9EA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23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82112" y="1965960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C8D9EA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81044" y="1965960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E3EDF7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9976" y="1965960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E3EDF7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78908" y="1965960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E3EDF7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1965960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F7FBF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8" y="256032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미충전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84248" y="2450591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1D5C8E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83180" y="2450591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E3EDF7"/>
          </a:solidFill>
          <a:ln w="28575">
            <a:solidFill>
              <a:srgbClr val="E04A0F"/>
            </a:solidFill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82112" y="2450591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E3EDF7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781044" y="2450591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E3EDF7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9976" y="2450591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E3EDF7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78908" y="2450591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E3EDF7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577840" y="2450591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F7FBF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07008" y="304495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기공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84248" y="2935224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1D5C8E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204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83180" y="2935224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E3EDF7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9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82112" y="2935224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C8D9EA"/>
          </a:solidFill>
          <a:ln w="28575">
            <a:solidFill>
              <a:srgbClr val="E04A0F"/>
            </a:solidFill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781044" y="2935224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F7FBF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379976" y="2935224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E3EDF7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78908" y="2935224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F7FBF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77840" y="2935224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F7FBF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07008" y="35295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박리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984248" y="3419856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1D5C8E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183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83180" y="3419856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E3EDF7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182112" y="3419856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F7FBF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81044" y="3419856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E3EDF7"/>
          </a:solidFill>
          <a:ln w="28575">
            <a:solidFill>
              <a:srgbClr val="E04A0F"/>
            </a:solidFill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79976" y="3419856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F7FBF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78908" y="3419856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E3EDF7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577840" y="3419856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F7FBF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07008" y="4014215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얼룩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984248" y="3904487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1D5C8E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583180" y="3904487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E3EDF7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182112" y="3904487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E3EDF7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781044" y="3904487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E3EDF7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79976" y="3904487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C8D9EA"/>
          </a:solidFill>
          <a:ln w="28575">
            <a:solidFill>
              <a:srgbClr val="E04A0F"/>
            </a:solidFill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29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78908" y="3904487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F7FBF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577840" y="3904487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F7FBF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07008" y="449884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변형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984248" y="4389120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1D5C8E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84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583180" y="4389120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F7FBF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182112" y="4389120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F7FBF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781044" y="4389120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F7FBF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379976" y="4389120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F7FBF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978908" y="4389120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C8D9EA"/>
          </a:solidFill>
          <a:ln w="28575">
            <a:solidFill>
              <a:srgbClr val="E04A0F"/>
            </a:solidFill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577840" y="4389120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E3EDF7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07008" y="498348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기타불량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984248" y="4873752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1D5C8E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73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583180" y="4873752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F7FBF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182112" y="4873752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F7FBF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781044" y="4873752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F7FBF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379976" y="4873752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F7FBF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978908" y="4873752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E3EDF7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577840" y="4873752"/>
            <a:ext cx="557784" cy="448056"/>
          </a:xfrm>
          <a:prstGeom prst="roundRect">
            <a:avLst>
              <a:gd name="adj" fmla="val 12244"/>
            </a:avLst>
          </a:prstGeom>
          <a:solidFill>
            <a:srgbClr val="F7FBFF"/>
          </a:solidFill>
          <a:ln w="28575">
            <a:solidFill>
              <a:srgbClr val="E04A0F"/>
            </a:solidFill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331720" y="5413248"/>
            <a:ext cx="292608" cy="182880"/>
          </a:xfrm>
          <a:prstGeom prst="roundRect">
            <a:avLst>
              <a:gd name="adj" fmla="val 20000"/>
            </a:avLst>
          </a:prstGeom>
          <a:noFill/>
          <a:ln w="25400">
            <a:solidFill>
              <a:srgbClr val="E04A0F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697480" y="5376672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실제 불량을 같은 종류로 맞힌 건수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05840" y="5669280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6A7179"/>
                </a:solidFill>
                <a:latin typeface="Noto Sans KR"/>
                <a:ea typeface="Noto Sans KR"/>
                <a:cs typeface="Noto Sans KR"/>
              </a:rPr>
              <a:t>*처음 보는 입력(같은 입력은 같은 쪽), 한 번의 교차검증. 다음 장 2×2는 시드 3개 평균이라 몇 건 다름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720840" y="1261872"/>
            <a:ext cx="4663440" cy="822960"/>
          </a:xfrm>
          <a:prstGeom prst="roundRect">
            <a:avLst>
              <a:gd name="adj" fmla="val 11111"/>
            </a:avLst>
          </a:prstGeom>
          <a:solidFill>
            <a:srgbClr val="0D4468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720840" y="1261872"/>
            <a:ext cx="64008" cy="82296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967728" y="1481328"/>
            <a:ext cx="384048" cy="384048"/>
          </a:xfrm>
          <a:prstGeom prst="ellipse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543800" y="1353312"/>
            <a:ext cx="37490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불량 1,182건 중 </a:t>
            </a:r>
            <a:r>
              <a:rPr sz="1350" b="1">
                <a:solidFill>
                  <a:srgbClr val="FFB38A"/>
                </a:solidFill>
                <a:latin typeface="Noto Sans KR"/>
                <a:ea typeface="Noto Sans KR"/>
                <a:cs typeface="Noto Sans KR"/>
              </a:rPr>
              <a:t>1,043건(88%)</a:t>
            </a:r>
            <a:r>
              <a:rPr sz="13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을 정상으로 놓침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720840" y="2203704"/>
            <a:ext cx="4663440" cy="822960"/>
          </a:xfrm>
          <a:prstGeom prst="roundRect">
            <a:avLst>
              <a:gd name="adj" fmla="val 11111"/>
            </a:avLst>
          </a:prstGeom>
          <a:solidFill>
            <a:srgbClr val="0D4468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720840" y="2203704"/>
            <a:ext cx="64008" cy="822960"/>
          </a:xfrm>
          <a:prstGeom prst="rect">
            <a:avLst/>
          </a:prstGeom>
          <a:solidFill>
            <a:srgbClr val="8FD0F5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967728" y="2423160"/>
            <a:ext cx="384048" cy="384048"/>
          </a:xfrm>
          <a:prstGeom prst="ellipse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43800" y="2295144"/>
            <a:ext cx="37490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미충전 469건 중 </a:t>
            </a:r>
            <a:r>
              <a:rPr sz="1350" b="1">
                <a:solidFill>
                  <a:srgbClr val="8FD0F5"/>
                </a:solidFill>
                <a:latin typeface="Noto Sans KR"/>
                <a:ea typeface="Noto Sans KR"/>
                <a:cs typeface="Noto Sans KR"/>
              </a:rPr>
              <a:t>434건</a:t>
            </a:r>
            <a:r>
              <a:rPr sz="13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을 놓치고 12건만 맞힘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720840" y="3145536"/>
            <a:ext cx="4663440" cy="822960"/>
          </a:xfrm>
          <a:prstGeom prst="roundRect">
            <a:avLst>
              <a:gd name="adj" fmla="val 11111"/>
            </a:avLst>
          </a:prstGeom>
          <a:solidFill>
            <a:srgbClr val="0D4468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720840" y="3145536"/>
            <a:ext cx="64008" cy="822960"/>
          </a:xfrm>
          <a:prstGeom prst="rect">
            <a:avLst/>
          </a:prstGeom>
          <a:solidFill>
            <a:srgbClr val="8FD0F5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967728" y="3364991"/>
            <a:ext cx="384048" cy="384048"/>
          </a:xfrm>
          <a:prstGeom prst="ellipse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43800" y="3236976"/>
            <a:ext cx="37490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미충전을 기공으로 착각 </a:t>
            </a:r>
            <a:r>
              <a:rPr sz="1350" b="1">
                <a:solidFill>
                  <a:srgbClr val="8FD0F5"/>
                </a:solidFill>
                <a:latin typeface="Noto Sans KR"/>
                <a:ea typeface="Noto Sans KR"/>
                <a:cs typeface="Noto Sans KR"/>
              </a:rPr>
              <a:t>8건</a:t>
            </a:r>
            <a:r>
              <a:rPr sz="13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— 둘은 조치가 다름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720840" y="4087368"/>
            <a:ext cx="4663440" cy="822960"/>
          </a:xfrm>
          <a:prstGeom prst="roundRect">
            <a:avLst>
              <a:gd name="adj" fmla="val 11111"/>
            </a:avLst>
          </a:prstGeom>
          <a:solidFill>
            <a:srgbClr val="0D4468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720840" y="4087368"/>
            <a:ext cx="64008" cy="822960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967728" y="4306824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543800" y="4178807"/>
            <a:ext cx="37490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정상 4,092건 중 </a:t>
            </a:r>
            <a:r>
              <a:rPr sz="1350" b="1">
                <a:solidFill>
                  <a:srgbClr val="FFD08A"/>
                </a:solidFill>
                <a:latin typeface="Noto Sans KR"/>
                <a:ea typeface="Noto Sans KR"/>
                <a:cs typeface="Noto Sans KR"/>
              </a:rPr>
              <a:t>82건(2%)</a:t>
            </a:r>
            <a:r>
              <a:rPr sz="13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을 불량으로 경보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720840" y="5029200"/>
            <a:ext cx="4663440" cy="822960"/>
          </a:xfrm>
          <a:prstGeom prst="roundRect">
            <a:avLst>
              <a:gd name="adj" fmla="val 11111"/>
            </a:avLst>
          </a:prstGeom>
          <a:solidFill>
            <a:srgbClr val="0D4468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720840" y="5029200"/>
            <a:ext cx="64008" cy="822960"/>
          </a:xfrm>
          <a:prstGeom prst="rect">
            <a:avLst/>
          </a:prstGeom>
          <a:solidFill>
            <a:srgbClr val="37A05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967728" y="5248656"/>
            <a:ext cx="384048" cy="384048"/>
          </a:xfrm>
          <a:prstGeom prst="ellipse">
            <a:avLst/>
          </a:prstGeom>
          <a:solidFill>
            <a:srgbClr val="37A05C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543800" y="5120640"/>
            <a:ext cx="3749039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얼룩 100건 중 </a:t>
            </a:r>
            <a:r>
              <a:rPr sz="1350" b="1">
                <a:solidFill>
                  <a:srgbClr val="8EE0A8"/>
                </a:solidFill>
                <a:latin typeface="Noto Sans KR"/>
                <a:ea typeface="Noto Sans KR"/>
                <a:cs typeface="Noto Sans KR"/>
              </a:rPr>
              <a:t>29건</a:t>
            </a:r>
            <a:r>
              <a:rPr sz="13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, 변형 106건 중 </a:t>
            </a:r>
            <a:r>
              <a:rPr sz="1350" b="1">
                <a:solidFill>
                  <a:srgbClr val="8EE0A8"/>
                </a:solidFill>
                <a:latin typeface="Noto Sans KR"/>
                <a:ea typeface="Noto Sans KR"/>
                <a:cs typeface="Noto Sans KR"/>
              </a:rPr>
              <a:t>21건</a:t>
            </a:r>
            <a:r>
              <a:rPr sz="13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은 맞힘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기타불량은 76건 중 0건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14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12191695" cy="54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2336" y="201168"/>
            <a:ext cx="114300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특징 중요도: 모델이 보는 공정 조건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9568" y="6153912"/>
            <a:ext cx="1527048" cy="40233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6117336"/>
            <a:ext cx="1271016" cy="429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0972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방법: 불량 종류마다 '그 종류인가 아닌가'를 따로 학습 → 처음 보는 입력에서 순열 중요도로 중요한 조건을 뽑음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81328"/>
            <a:ext cx="3383280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45920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미충전(Short_Shot)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956816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불량 구분 점수(AUC, 0.5 찍기 ~ 1.0 완벽)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24028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1676B2"/>
                </a:solidFill>
                <a:latin typeface="Noto Sans KR"/>
                <a:ea typeface="Noto Sans KR"/>
                <a:cs typeface="Noto Sans KR"/>
              </a:rPr>
              <a:t>0.75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26080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• 고속 사출 속도 High_Velocity (제품 유형 2)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• 용탕로 온도 Melting_Furnace_Temp (유형 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07408" y="1481328"/>
            <a:ext cx="3383280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1645920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기공(Blow_Hole)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1956816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불량 구분 점수(AUC, 0.5 찍기 ~ 1.0 완벽)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224028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1676B2"/>
                </a:solidFill>
                <a:latin typeface="Noto Sans KR"/>
                <a:ea typeface="Noto Sans KR"/>
                <a:cs typeface="Noto Sans KR"/>
              </a:rPr>
              <a:t>0.90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2926080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• 고속 사출 속도 High_Velocity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• 냉각수 온도 Coolant_Temp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91856" y="1481328"/>
            <a:ext cx="3383280" cy="2395728"/>
          </a:xfrm>
          <a:prstGeom prst="roundRect">
            <a:avLst>
              <a:gd name="adj" fmla="val 4580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0456" y="1645920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박리(Exfoliation)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0456" y="1956816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불량 구분 점수(AUC, 0.5 찍기 ~ 1.0 완벽)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0456" y="224028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000" b="1">
                <a:solidFill>
                  <a:srgbClr val="1676B2"/>
                </a:solidFill>
                <a:latin typeface="Noto Sans KR"/>
                <a:ea typeface="Noto Sans KR"/>
                <a:cs typeface="Noto Sans KR"/>
              </a:rPr>
              <a:t>0.83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2926080"/>
            <a:ext cx="30632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• 이형제 분사 시간 Spray_Time (제품 유형 1)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" y="4041648"/>
            <a:ext cx="10570464" cy="548640"/>
          </a:xfrm>
          <a:prstGeom prst="roundRect">
            <a:avLst>
              <a:gd name="adj" fmla="val 16666"/>
            </a:avLst>
          </a:prstGeom>
          <a:solidFill>
            <a:srgbClr val="FCE6D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B73A08"/>
                </a:solidFill>
                <a:latin typeface="Noto Sans KR"/>
                <a:ea typeface="Noto Sans KR"/>
                <a:cs typeface="Noto Sans KR"/>
              </a:rPr>
              <a:t>단서  </a:t>
            </a:r>
            <a:r>
              <a:rPr sz="1600" b="1">
                <a:solidFill>
                  <a:srgbClr val="B73A08"/>
                </a:solidFill>
                <a:latin typeface="Noto Sans KR"/>
                <a:ea typeface="Noto Sans KR"/>
                <a:cs typeface="Noto Sans KR"/>
              </a:rPr>
              <a:t>중요하다 = 예측에 쓸모 있다는 뜻이지, 원인이라는 뜻이 아닙니다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" y="4709160"/>
            <a:ext cx="10570464" cy="1216152"/>
          </a:xfrm>
          <a:prstGeom prst="roundRect">
            <a:avLst>
              <a:gd name="adj" fmla="val 9022"/>
            </a:avLst>
          </a:prstGeom>
          <a:solidFill>
            <a:srgbClr val="0B5A8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8136" y="4864608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F4F9FD"/>
                </a:solidFill>
                <a:latin typeface="Noto Sans KR"/>
                <a:ea typeface="Noto Sans KR"/>
                <a:cs typeface="Noto Sans KR"/>
              </a:rPr>
              <a:t>앞뒤 샷의 공정 조건 40개를 함께 보면 점수가 유일하게 일관되게 상승(+0.0045)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F4F9FD"/>
                </a:solidFill>
                <a:latin typeface="Noto Sans KR"/>
                <a:ea typeface="Noto Sans KR"/>
                <a:cs typeface="Noto Sans KR"/>
              </a:rPr>
              <a:t>공장 온도·습도, 냉각수 온도는 시기에 따라 같이 변하는 값일 가능성이 커 원인으로 보지 않음 (빼면 점수가 −0.012로 가장 크게 떨어짐 = 시기 표지)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14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12191695" cy="54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2336" y="201168"/>
            <a:ext cx="114300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처음 보는 샷: 1안은 불량 10%, 2안은 48%를 잡는다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9568" y="6153912"/>
            <a:ext cx="1527048" cy="40233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6117336"/>
            <a:ext cx="1271016" cy="429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1115568"/>
            <a:ext cx="472744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1676B2"/>
                </a:solidFill>
                <a:latin typeface="Noto Sans KR"/>
                <a:ea typeface="Noto Sans KR"/>
                <a:cs typeface="Noto Sans KR"/>
              </a:rPr>
              <a:t>1안 (최종 제출안)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463040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모델: 경보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0208" y="1463040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모델: 정상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029967"/>
            <a:ext cx="84124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실제 불량</a:t>
            </a:r>
          </a:p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1,182건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36976"/>
            <a:ext cx="84124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실제 정상</a:t>
            </a:r>
          </a:p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4,092건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1737360"/>
            <a:ext cx="1874519" cy="1115568"/>
          </a:xfrm>
          <a:prstGeom prst="roundRect">
            <a:avLst>
              <a:gd name="adj" fmla="val 8196"/>
            </a:avLst>
          </a:prstGeom>
          <a:solidFill>
            <a:srgbClr val="37A05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1847088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불량을 잡음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084831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122건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2542032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불량의 10%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50208" y="1737360"/>
            <a:ext cx="1874519" cy="1115568"/>
          </a:xfrm>
          <a:prstGeom prst="roundRect">
            <a:avLst>
              <a:gd name="adj" fmla="val 8196"/>
            </a:avLst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0208" y="1847088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불량을 놓침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208" y="2084831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1,060건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2542032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불량의 90%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11680" y="2944368"/>
            <a:ext cx="1874519" cy="1115568"/>
          </a:xfrm>
          <a:prstGeom prst="roundRect">
            <a:avLst>
              <a:gd name="adj" fmla="val 8196"/>
            </a:avLst>
          </a:prstGeom>
          <a:solidFill>
            <a:srgbClr val="E8A33D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3054096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4A3208"/>
                </a:solidFill>
                <a:latin typeface="Noto Sans KR"/>
                <a:ea typeface="Noto Sans KR"/>
                <a:cs typeface="Noto Sans KR"/>
              </a:rPr>
              <a:t>헛경보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3291839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4A3208"/>
                </a:solidFill>
                <a:latin typeface="Noto Sans KR"/>
                <a:ea typeface="Noto Sans KR"/>
                <a:cs typeface="Noto Sans KR"/>
              </a:rPr>
              <a:t>73건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3749039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4A3208"/>
                </a:solidFill>
                <a:latin typeface="Noto Sans KR"/>
                <a:ea typeface="Noto Sans KR"/>
                <a:cs typeface="Noto Sans KR"/>
              </a:rPr>
              <a:t>정상의 2%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950208" y="2944368"/>
            <a:ext cx="1874519" cy="1115568"/>
          </a:xfrm>
          <a:prstGeom prst="roundRect">
            <a:avLst>
              <a:gd name="adj" fmla="val 8196"/>
            </a:avLst>
          </a:prstGeom>
          <a:solidFill>
            <a:srgbClr val="D9DEE7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50208" y="3054096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정상 통과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50208" y="3291839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4,019건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50208" y="3749039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정상의 98%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1115568"/>
            <a:ext cx="472744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B07A1E"/>
                </a:solidFill>
                <a:latin typeface="Noto Sans KR"/>
                <a:ea typeface="Noto Sans KR"/>
                <a:cs typeface="Noto Sans KR"/>
              </a:rPr>
              <a:t>2안 (현장성을 높인 비교안)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7768" y="1463040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모델: 경보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296" y="1463040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모델: 정상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3368" y="2029967"/>
            <a:ext cx="84124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실제 불량</a:t>
            </a:r>
          </a:p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1,182건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236976"/>
            <a:ext cx="84124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실제 정상</a:t>
            </a:r>
          </a:p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4,092건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87768" y="1737360"/>
            <a:ext cx="1874519" cy="1115568"/>
          </a:xfrm>
          <a:prstGeom prst="roundRect">
            <a:avLst>
              <a:gd name="adj" fmla="val 8196"/>
            </a:avLst>
          </a:prstGeom>
          <a:solidFill>
            <a:srgbClr val="37A05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87768" y="1847088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불량을 잡음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2084831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568건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87768" y="2542032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불량의 48%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26296" y="1737360"/>
            <a:ext cx="1874519" cy="1115568"/>
          </a:xfrm>
          <a:prstGeom prst="roundRect">
            <a:avLst>
              <a:gd name="adj" fmla="val 8196"/>
            </a:avLst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26296" y="1847088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불량을 놓침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26296" y="2084831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614건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26296" y="2542032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불량의 52%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287768" y="2944368"/>
            <a:ext cx="1874519" cy="1115568"/>
          </a:xfrm>
          <a:prstGeom prst="roundRect">
            <a:avLst>
              <a:gd name="adj" fmla="val 8196"/>
            </a:avLst>
          </a:prstGeom>
          <a:solidFill>
            <a:srgbClr val="E8A33D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87768" y="3054096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4A3208"/>
                </a:solidFill>
                <a:latin typeface="Noto Sans KR"/>
                <a:ea typeface="Noto Sans KR"/>
                <a:cs typeface="Noto Sans KR"/>
              </a:rPr>
              <a:t>헛경보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87768" y="3291839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4A3208"/>
                </a:solidFill>
                <a:latin typeface="Noto Sans KR"/>
                <a:ea typeface="Noto Sans KR"/>
                <a:cs typeface="Noto Sans KR"/>
              </a:rPr>
              <a:t>749건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87768" y="3749039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4A3208"/>
                </a:solidFill>
                <a:latin typeface="Noto Sans KR"/>
                <a:ea typeface="Noto Sans KR"/>
                <a:cs typeface="Noto Sans KR"/>
              </a:rPr>
              <a:t>정상의 18%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26296" y="2944368"/>
            <a:ext cx="1874519" cy="1115568"/>
          </a:xfrm>
          <a:prstGeom prst="roundRect">
            <a:avLst>
              <a:gd name="adj" fmla="val 8196"/>
            </a:avLst>
          </a:prstGeom>
          <a:solidFill>
            <a:srgbClr val="D9DEE7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26296" y="3054096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정상 통과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26296" y="3291839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3,343건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26296" y="3749039"/>
            <a:ext cx="1874519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정상의 82%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4114800"/>
            <a:ext cx="100584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6A7179"/>
                </a:solidFill>
                <a:latin typeface="Noto Sans KR"/>
                <a:ea typeface="Noto Sans KR"/>
                <a:cs typeface="Noto Sans KR"/>
              </a:rPr>
              <a:t>처음 보는 입력(같은 입력은 같은 쪽에 둔 5분할), 시드 7·123·2026 평균, 경보 기준 ×1.0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2960" y="4407408"/>
            <a:ext cx="6492240" cy="153619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4128" y="4507992"/>
            <a:ext cx="62179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검증 방식에 따라 순위가 뒤집힌다</a:t>
            </a:r>
            <a:r>
              <a:rPr sz="110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  macro F1 · </a:t>
            </a:r>
            <a:r>
              <a:rPr sz="1100" b="1">
                <a:solidFill>
                  <a:srgbClr val="1676B2"/>
                </a:solidFill>
                <a:latin typeface="Noto Sans KR"/>
                <a:ea typeface="Noto Sans KR"/>
                <a:cs typeface="Noto Sans KR"/>
              </a:rPr>
              <a:t>■ 1안</a:t>
            </a:r>
            <a:r>
              <a:rPr sz="1100" b="1">
                <a:solidFill>
                  <a:srgbClr val="E8A33D"/>
                </a:solidFill>
                <a:latin typeface="Noto Sans KR"/>
                <a:ea typeface="Noto Sans KR"/>
                <a:cs typeface="Noto Sans KR"/>
              </a:rPr>
              <a:t>  ■ 2안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24128" y="4846320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무작위 80/20</a:t>
            </a:r>
            <a:r>
              <a:rPr sz="95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  리더보드와 비슷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46120" y="4873752"/>
            <a:ext cx="3072384" cy="118872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64224" y="481888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0.560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46120" y="5020056"/>
            <a:ext cx="2765145" cy="118872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56985" y="4965192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0.504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" y="5202936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같은 입력 묶음</a:t>
            </a:r>
            <a:r>
              <a:rPr sz="95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  처음 보는 입력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46120" y="5230368"/>
            <a:ext cx="1404518" cy="118872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696358" y="5175503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0.256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46120" y="5376672"/>
            <a:ext cx="1854403" cy="118872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146243" y="5321807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0.338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24128" y="5559552"/>
            <a:ext cx="2103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시간순 80/20</a:t>
            </a:r>
            <a:r>
              <a:rPr sz="95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  현장 배포에 가까움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246120" y="5586984"/>
            <a:ext cx="685800" cy="118872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77639" y="553212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0.125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46120" y="5733288"/>
            <a:ext cx="608990" cy="118872"/>
          </a:xfrm>
          <a:prstGeom prst="rect">
            <a:avLst/>
          </a:prstGeom>
          <a:solidFill>
            <a:srgbClr val="E8A33D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900830" y="5678424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0.111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498079" y="4407408"/>
            <a:ext cx="3886200" cy="1536192"/>
          </a:xfrm>
          <a:prstGeom prst="roundRect">
            <a:avLst>
              <a:gd name="adj" fmla="val 7142"/>
            </a:avLst>
          </a:prstGeom>
          <a:solidFill>
            <a:srgbClr val="0B5A8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699248" y="4507992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8FD0F5"/>
                </a:solidFill>
                <a:latin typeface="Noto Sans KR"/>
                <a:ea typeface="Noto Sans KR"/>
                <a:cs typeface="Noto Sans KR"/>
              </a:rPr>
              <a:t>그래서 이렇게 나눴다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99248" y="4800600"/>
            <a:ext cx="3566160" cy="1097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제출 CSV = 1안</a:t>
            </a:r>
            <a:r>
              <a:rPr sz="1100" b="0">
                <a:solidFill>
                  <a:srgbClr val="CFE6F5"/>
                </a:solidFill>
                <a:latin typeface="Noto Sans KR"/>
                <a:ea typeface="Noto Sans KR"/>
                <a:cs typeface="Noto Sans KR"/>
              </a:rPr>
              <a:t>  같은 입력 58%인 채점 구조에 맞음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현장 후보 = 2안</a:t>
            </a:r>
            <a:r>
              <a:rPr sz="1100" b="0">
                <a:solidFill>
                  <a:srgbClr val="CFE6F5"/>
                </a:solidFill>
                <a:latin typeface="Noto Sans KR"/>
                <a:ea typeface="Noto Sans KR"/>
                <a:cs typeface="Noto Sans KR"/>
              </a:rPr>
              <a:t>  불량을 더 부르고 실시간 가능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CFE6F5"/>
                </a:solidFill>
                <a:latin typeface="Noto Sans KR"/>
                <a:ea typeface="Noto Sans KR"/>
                <a:cs typeface="Noto Sans KR"/>
              </a:rPr>
              <a:t>public 차이 0.028 &lt; 표본 흔들림 SD 0.037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14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12191695" cy="54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2336" y="201168"/>
            <a:ext cx="114300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운영 기준 비용표 (하루 3,800샷)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9568" y="6153912"/>
            <a:ext cx="1527048" cy="40233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6117336"/>
            <a:ext cx="1271016" cy="42976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143000"/>
          <a:ext cx="10561320" cy="2962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325880"/>
                <a:gridCol w="960120"/>
                <a:gridCol w="1051560"/>
                <a:gridCol w="1371600"/>
                <a:gridCol w="1737360"/>
                <a:gridCol w="13716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경보 기준(정상 확률 배율)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하루 검사 대상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놓침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헛경보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총비용 5:1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총비용 10:1 (기준)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총비용 20:1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안 함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852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4,258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8,516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17,033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 ×1.0 (제출 CSV 기준)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154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759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61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3,856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7,650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15,239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 ×0.5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591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565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305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3,132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5,959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11,613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 ×0.3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1,179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371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699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2,556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4,413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8,127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 ×0.2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1,720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248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1,117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2,359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3,601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6,085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B5A8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 ×0.1 (운영안)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B5A8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2,575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B5A8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87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B5A8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1,810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B5A8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2,244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B5A8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2,677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B5A8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3,543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D6EA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 ×0.05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3,032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2,212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2,368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2,523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2,835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전수 검사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3,800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2,948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2,948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2,948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2,948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22960" y="4224528"/>
            <a:ext cx="3383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29768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>
                <a:solidFill>
                  <a:srgbClr val="37A05C"/>
                </a:solidFill>
                <a:latin typeface="Noto Sans KR"/>
                <a:ea typeface="Noto Sans KR"/>
                <a:cs typeface="Noto Sans KR"/>
              </a:rPr>
              <a:t>5 :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66344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×0.1이 전수 검사보다 24% 저렴 → 모델이 분명히 도움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8" y="4224528"/>
            <a:ext cx="3383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429768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>
                <a:solidFill>
                  <a:srgbClr val="C98A1E"/>
                </a:solidFill>
                <a:latin typeface="Noto Sans KR"/>
                <a:ea typeface="Noto Sans KR"/>
                <a:cs typeface="Noto Sans KR"/>
              </a:rPr>
              <a:t>10 : 1 (기준안)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466344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×0.1이 9% 저렴(최저 ×0.05는 14%), 샷의 68~80% 검사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224528"/>
            <a:ext cx="338328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4297680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>
                <a:solidFill>
                  <a:srgbClr val="E04A0F"/>
                </a:solidFill>
                <a:latin typeface="Noto Sans KR"/>
                <a:ea typeface="Noto Sans KR"/>
                <a:cs typeface="Noto Sans KR"/>
              </a:rPr>
              <a:t>20 :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466344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전수 검사와 구별 안 됨 → 모델 이점 없음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" y="5257800"/>
            <a:ext cx="10570464" cy="694944"/>
          </a:xfrm>
          <a:prstGeom prst="roundRect">
            <a:avLst>
              <a:gd name="adj" fmla="val 13157"/>
            </a:avLst>
          </a:prstGeom>
          <a:solidFill>
            <a:srgbClr val="E6F2FA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" y="5257800"/>
            <a:ext cx="64008" cy="694944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21808"/>
            <a:ext cx="102412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총비용 = 헛경보 1건을 1, 놓친 불량 1건을 5·10·20으로 환산 · 하루 3,800샷 = 사이클 22.6초 × 24시간 가동 가정 · 처음 보는 입력 기준, 시드 4개 평균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1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2안도 기준을 맞추면 최저 비용 차이는 4% 안 → 비용을 정하는 건 모델보다 경보 기준. </a:t>
            </a:r>
            <a:r>
              <a:rPr sz="115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비율은 현장에서 정해 주세요.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14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12191695" cy="54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2336" y="201168"/>
            <a:ext cx="114300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불량 원인 후보: 이 구간에서 불량이 적었다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9568" y="6153912"/>
            <a:ext cx="1527048" cy="40233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6117336"/>
            <a:ext cx="1271016" cy="4297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3816" y="1143000"/>
            <a:ext cx="3355848" cy="384048"/>
          </a:xfrm>
          <a:prstGeom prst="roundRect">
            <a:avLst>
              <a:gd name="adj" fmla="val 50000"/>
            </a:avLst>
          </a:prstGeom>
          <a:solidFill>
            <a:srgbClr val="0B5A8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미충전 (Short_Shot)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" y="1609344"/>
            <a:ext cx="3355848" cy="2706624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1618488"/>
            <a:ext cx="3337560" cy="26700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3816" y="4425696"/>
            <a:ext cx="3355848" cy="941832"/>
          </a:xfrm>
          <a:prstGeom prst="roundRect">
            <a:avLst>
              <a:gd name="adj" fmla="val 11650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" y="4526280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제품 유형 2 · High_Velocity 2.537 초과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" y="477316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6A7179"/>
                </a:solidFill>
                <a:latin typeface="Noto Sans KR"/>
                <a:ea typeface="Noto Sans KR"/>
                <a:cs typeface="Noto Sans KR"/>
              </a:rPr>
              <a:t>15.8% → </a:t>
            </a:r>
            <a:r>
              <a:rPr sz="2400" b="1">
                <a:solidFill>
                  <a:srgbClr val="1676B2"/>
                </a:solidFill>
                <a:latin typeface="Noto Sans KR"/>
                <a:ea typeface="Noto Sans KR"/>
                <a:cs typeface="Noto Sans KR"/>
              </a:rPr>
              <a:t>5.3%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25496" y="5120640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6A7179"/>
                </a:solidFill>
                <a:latin typeface="Noto Sans KR"/>
                <a:ea typeface="Noto Sans KR"/>
                <a:cs typeface="Noto Sans KR"/>
              </a:rPr>
              <a:t>구간 밖 → 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2836" y="1143000"/>
            <a:ext cx="3355848" cy="384048"/>
          </a:xfrm>
          <a:prstGeom prst="roundRect">
            <a:avLst>
              <a:gd name="adj" fmla="val 50000"/>
            </a:avLst>
          </a:prstGeom>
          <a:solidFill>
            <a:srgbClr val="0B5A8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기공 (Blow_Hole)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02836" y="1609344"/>
            <a:ext cx="3355848" cy="2706624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1979" y="1618488"/>
            <a:ext cx="3337560" cy="2670048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4402836" y="4425696"/>
            <a:ext cx="3355848" cy="941832"/>
          </a:xfrm>
          <a:prstGeom prst="roundRect">
            <a:avLst>
              <a:gd name="adj" fmla="val 11650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04003" y="4526280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제품 유형 2 · High_Velocity 2.543 초과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4003" y="477316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6A7179"/>
                </a:solidFill>
                <a:latin typeface="Noto Sans KR"/>
                <a:ea typeface="Noto Sans KR"/>
                <a:cs typeface="Noto Sans KR"/>
              </a:rPr>
              <a:t>12.3% → </a:t>
            </a:r>
            <a:r>
              <a:rPr sz="2400" b="1">
                <a:solidFill>
                  <a:srgbClr val="1676B2"/>
                </a:solidFill>
                <a:latin typeface="Noto Sans KR"/>
                <a:ea typeface="Noto Sans KR"/>
                <a:cs typeface="Noto Sans KR"/>
              </a:rPr>
              <a:t>0.7%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4516" y="5120640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6A7179"/>
                </a:solidFill>
                <a:latin typeface="Noto Sans KR"/>
                <a:ea typeface="Noto Sans KR"/>
                <a:cs typeface="Noto Sans KR"/>
              </a:rPr>
              <a:t>구간 밖 → 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91856" y="1143000"/>
            <a:ext cx="3355848" cy="384048"/>
          </a:xfrm>
          <a:prstGeom prst="roundRect">
            <a:avLst>
              <a:gd name="adj" fmla="val 50000"/>
            </a:avLst>
          </a:prstGeom>
          <a:solidFill>
            <a:srgbClr val="0B5A8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박리 (Exfoliation)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91856" y="1609344"/>
            <a:ext cx="3355848" cy="2706624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01000" y="1618488"/>
            <a:ext cx="3337560" cy="267004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7991856" y="4425696"/>
            <a:ext cx="3355848" cy="941832"/>
          </a:xfrm>
          <a:prstGeom prst="roundRect">
            <a:avLst>
              <a:gd name="adj" fmla="val 11650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3024" y="4526280"/>
            <a:ext cx="301752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제품 유형 1 · Spray_Time 8.1 초과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3024" y="4773168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6A7179"/>
                </a:solidFill>
                <a:latin typeface="Noto Sans KR"/>
                <a:ea typeface="Noto Sans KR"/>
                <a:cs typeface="Noto Sans KR"/>
              </a:rPr>
              <a:t>9.8% → </a:t>
            </a:r>
            <a:r>
              <a:rPr sz="2400" b="1">
                <a:solidFill>
                  <a:srgbClr val="1676B2"/>
                </a:solidFill>
                <a:latin typeface="Noto Sans KR"/>
                <a:ea typeface="Noto Sans KR"/>
                <a:cs typeface="Noto Sans KR"/>
              </a:rPr>
              <a:t>1.8%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03536" y="5120640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6A7179"/>
                </a:solidFill>
                <a:latin typeface="Noto Sans KR"/>
                <a:ea typeface="Noto Sans KR"/>
                <a:cs typeface="Noto Sans KR"/>
              </a:rPr>
              <a:t>구간 밖 → 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" y="5440680"/>
            <a:ext cx="10570464" cy="585216"/>
          </a:xfrm>
          <a:prstGeom prst="roundRect">
            <a:avLst>
              <a:gd name="adj" fmla="val 18750"/>
            </a:avLst>
          </a:prstGeom>
          <a:solidFill>
            <a:srgbClr val="0B5A8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" y="5605272"/>
            <a:ext cx="8686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8FD0F5"/>
                </a:solidFill>
                <a:latin typeface="Noto Sans KR"/>
                <a:ea typeface="Noto Sans KR"/>
                <a:cs typeface="Noto Sans KR"/>
              </a:rPr>
              <a:t>확인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477256"/>
            <a:ext cx="9418320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같은 데이터에서 고른 구간이라 상관일 뿐. 속도가 높은 샷은 금형 온도·시기·설비 상태와 같이 움직였을 수 있음</a:t>
            </a:r>
          </a:p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 그 조건만 바꾼 시험 생산(A/B)으로 같은 제품·같은 시기에서 불량률 비교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14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12191695" cy="54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2336" y="201168"/>
            <a:ext cx="114300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실험에서 배운 것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9568" y="6153912"/>
            <a:ext cx="1527048" cy="40233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6117336"/>
            <a:ext cx="1271016" cy="4297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353312"/>
            <a:ext cx="3374136" cy="2587752"/>
          </a:xfrm>
          <a:prstGeom prst="roundRect">
            <a:avLst>
              <a:gd name="adj" fmla="val 4240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24128" y="1536192"/>
            <a:ext cx="329184" cy="329184"/>
          </a:xfrm>
          <a:prstGeom prst="ellipse">
            <a:avLst/>
          </a:prstGeom>
          <a:solidFill>
            <a:srgbClr val="37A05C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79" y="155448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E3F4EA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1F7A44"/>
                </a:solidFill>
                <a:latin typeface="Noto Sans KR"/>
                <a:ea typeface="Noto Sans KR"/>
                <a:cs typeface="Noto Sans KR"/>
              </a:rPr>
              <a:t>유일한 상승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956816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앞뒤 샷의 공정 조건 40개 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286000"/>
            <a:ext cx="3044952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37A05C"/>
                </a:solidFill>
                <a:latin typeface="Noto Sans KR"/>
                <a:ea typeface="Noto Sans KR"/>
                <a:cs typeface="Noto Sans KR"/>
              </a:rPr>
              <a:t>+0.0045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971800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유일하게 일관된 점수 상승.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앞 샷만 쓰면 −0.0002, 뒤 샷만 쓰면 −0.0015로 효과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1980" y="1353312"/>
            <a:ext cx="3374136" cy="2587752"/>
          </a:xfrm>
          <a:prstGeom prst="roundRect">
            <a:avLst>
              <a:gd name="adj" fmla="val 4240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13148" y="1536192"/>
            <a:ext cx="329184" cy="329184"/>
          </a:xfrm>
          <a:prstGeom prst="ellipse">
            <a:avLst/>
          </a:prstGeom>
          <a:solidFill>
            <a:srgbClr val="6A7179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5100" y="155448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E8ECE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4A5560"/>
                </a:solidFill>
                <a:latin typeface="Noto Sans KR"/>
                <a:ea typeface="Noto Sans KR"/>
                <a:cs typeface="Noto Sans KR"/>
              </a:rPr>
              <a:t>차이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3148" y="1956816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20여 가지 추가 시도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3148" y="2286000"/>
            <a:ext cx="3044952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6A7179"/>
                </a:solidFill>
                <a:latin typeface="Noto Sans KR"/>
                <a:ea typeface="Noto Sans KR"/>
                <a:cs typeface="Noto Sans KR"/>
              </a:rPr>
              <a:t>±0.005 이내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3148" y="2971800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가중치·잎 크기·나무 수·보강·이동평균 등.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시드만 바꿔도 흔들리는 폭(0.005)과 같음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353312"/>
            <a:ext cx="3374136" cy="2587752"/>
          </a:xfrm>
          <a:prstGeom prst="roundRect">
            <a:avLst>
              <a:gd name="adj" fmla="val 4240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02168" y="1536192"/>
            <a:ext cx="329184" cy="329184"/>
          </a:xfrm>
          <a:prstGeom prst="ellipse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04120" y="1554480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FCE6D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B73A08"/>
                </a:solidFill>
                <a:latin typeface="Noto Sans KR"/>
                <a:ea typeface="Noto Sans KR"/>
                <a:cs typeface="Noto Sans KR"/>
              </a:rPr>
              <a:t>점수 하락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02168" y="1956816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불량을 더 많이 부르는 시도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168" y="2286000"/>
            <a:ext cx="3044952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500" b="1">
                <a:solidFill>
                  <a:srgbClr val="E04A0F"/>
                </a:solidFill>
                <a:latin typeface="Noto Sans KR"/>
                <a:ea typeface="Noto Sans KR"/>
                <a:cs typeface="Noto Sans KR"/>
              </a:rPr>
              <a:t>0.6125 → 0.6033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2168" y="2971800"/>
            <a:ext cx="310896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불량 포착은 63~67%로 늘었으나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헛경보도 늘어 점수 하락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" y="4334256"/>
            <a:ext cx="10570464" cy="1463040"/>
          </a:xfrm>
          <a:prstGeom prst="roundRect">
            <a:avLst>
              <a:gd name="adj" fmla="val 8750"/>
            </a:avLst>
          </a:prstGeom>
          <a:solidFill>
            <a:srgbClr val="0B5A8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70432" y="464515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8FD0F5"/>
                </a:solidFill>
                <a:latin typeface="Noto Sans KR"/>
                <a:ea typeface="Noto Sans KR"/>
                <a:cs typeface="Noto Sans KR"/>
              </a:rPr>
              <a:t>지금 모델이 평평한 정점, 한계는 모델 종류와 무관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513892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00" b="0">
                <a:solidFill>
                  <a:srgbClr val="F4F9FD"/>
                </a:solidFill>
                <a:latin typeface="Noto Sans KR"/>
                <a:ea typeface="Noto Sans KR"/>
                <a:cs typeface="Noto Sans KR"/>
              </a:rPr>
              <a:t>18개 모델의 불량 구분 점수(AUC)가 모두 0.72~0.75 (0.5 찍기 ~ 1.0 완벽) → 모델보다 입력 정보가 한계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14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12191695" cy="54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2336" y="201168"/>
            <a:ext cx="114300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현장 제안: 내일 이걸 쓴다면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9568" y="6153912"/>
            <a:ext cx="1527048" cy="40233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6117336"/>
            <a:ext cx="1271016" cy="4297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197864"/>
            <a:ext cx="5166360" cy="297180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24128" y="1380744"/>
            <a:ext cx="329184" cy="329184"/>
          </a:xfrm>
          <a:prstGeom prst="ellipse">
            <a:avLst/>
          </a:prstGeom>
          <a:solidFill>
            <a:srgbClr val="0B5A8C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2184" y="138988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검사 기준 낮추기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" y="1956816"/>
            <a:ext cx="4745736" cy="402336"/>
          </a:xfrm>
          <a:prstGeom prst="roundRect">
            <a:avLst>
              <a:gd name="adj" fmla="val 22727"/>
            </a:avLst>
          </a:prstGeom>
          <a:solidFill>
            <a:srgbClr val="E6F2FA"/>
          </a:solidFill>
          <a:ln>
            <a:noFill/>
          </a:ln>
        </p:spPr>
        <p:txBody>
          <a:bodyPr rtlCol="0" anchor="ctr" wrap="square" lIns="137160" rIns="137160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정상 확률 ×0.1</a:t>
            </a: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 적용 시 하루 </a:t>
            </a:r>
            <a:r>
              <a:rPr sz="125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2,575샷(68%)</a:t>
            </a: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 검사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450592"/>
            <a:ext cx="4745736" cy="402336"/>
          </a:xfrm>
          <a:prstGeom prst="roundRect">
            <a:avLst>
              <a:gd name="adj" fmla="val 22727"/>
            </a:avLst>
          </a:prstGeom>
          <a:solidFill>
            <a:srgbClr val="E6F2FA"/>
          </a:solidFill>
          <a:ln>
            <a:noFill/>
          </a:ln>
        </p:spPr>
        <p:txBody>
          <a:bodyPr rtlCol="0" anchor="ctr" wrap="square" lIns="137160" rIns="137160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놓침 87건</a:t>
            </a: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, 헛경보 </a:t>
            </a:r>
            <a:r>
              <a:rPr sz="125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1,810건</a:t>
            </a: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 (하루 3,800샷 기준)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2944368"/>
            <a:ext cx="4745736" cy="402336"/>
          </a:xfrm>
          <a:prstGeom prst="roundRect">
            <a:avLst>
              <a:gd name="adj" fmla="val 22727"/>
            </a:avLst>
          </a:prstGeom>
          <a:solidFill>
            <a:srgbClr val="E6F2FA"/>
          </a:solidFill>
          <a:ln>
            <a:noFill/>
          </a:ln>
        </p:spPr>
        <p:txBody>
          <a:bodyPr rtlCol="0" anchor="ctr" wrap="square" lIns="137160" rIns="137160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놓침 1건 = 헛경보 10건이면 전수 검사보다 </a:t>
            </a:r>
            <a:r>
              <a:rPr sz="125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9% 저렴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" y="3438144"/>
            <a:ext cx="4745736" cy="402336"/>
          </a:xfrm>
          <a:prstGeom prst="roundRect">
            <a:avLst>
              <a:gd name="adj" fmla="val 22727"/>
            </a:avLst>
          </a:prstGeom>
          <a:solidFill>
            <a:srgbClr val="E6F2FA"/>
          </a:solidFill>
          <a:ln>
            <a:noFill/>
          </a:ln>
        </p:spPr>
        <p:txBody>
          <a:bodyPr rtlCol="0" anchor="ctr" wrap="square" lIns="137160" rIns="137160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위험한 샷 상위 20%를 먼저 검사하면 불량 </a:t>
            </a:r>
            <a:r>
              <a:rPr sz="125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42% 발견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197864"/>
            <a:ext cx="5166360" cy="2971800"/>
          </a:xfrm>
          <a:prstGeom prst="roundRect">
            <a:avLst>
              <a:gd name="adj" fmla="val 3692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9944" y="1380744"/>
            <a:ext cx="329184" cy="329184"/>
          </a:xfrm>
          <a:prstGeom prst="ellipse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38988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공정 관리 후보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9944" y="1901952"/>
            <a:ext cx="4745736" cy="530352"/>
          </a:xfrm>
          <a:prstGeom prst="roundRect">
            <a:avLst>
              <a:gd name="adj" fmla="val 17241"/>
            </a:avLst>
          </a:prstGeom>
          <a:solidFill>
            <a:srgbClr val="E6F2FA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37960" y="2020824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0B5A8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제품 유형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07808" y="1938528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Spray_Time 8.1 초과 · 박리 9.8% → </a:t>
            </a:r>
            <a:r>
              <a:rPr sz="1250" b="1">
                <a:solidFill>
                  <a:srgbClr val="E04A0F"/>
                </a:solidFill>
                <a:latin typeface="Noto Sans KR"/>
                <a:ea typeface="Noto Sans KR"/>
                <a:cs typeface="Noto Sans KR"/>
              </a:rPr>
              <a:t>1.8%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9944" y="2523744"/>
            <a:ext cx="4745736" cy="786384"/>
          </a:xfrm>
          <a:prstGeom prst="roundRect">
            <a:avLst>
              <a:gd name="adj" fmla="val 11627"/>
            </a:avLst>
          </a:prstGeom>
          <a:solidFill>
            <a:srgbClr val="E6F2FA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37960" y="2770632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0B5A8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제품 유형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7808" y="2578608"/>
            <a:ext cx="352044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High_Velocity 2.537 초과 · 미충전 15.8% → </a:t>
            </a:r>
            <a:r>
              <a:rPr sz="1250" b="1">
                <a:solidFill>
                  <a:srgbClr val="E04A0F"/>
                </a:solidFill>
                <a:latin typeface="Noto Sans KR"/>
                <a:ea typeface="Noto Sans KR"/>
                <a:cs typeface="Noto Sans KR"/>
              </a:rPr>
              <a:t>5.3%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High_Velocity 2.543 초과 · 기공 12.3% → </a:t>
            </a:r>
            <a:r>
              <a:rPr sz="1250" b="1">
                <a:solidFill>
                  <a:srgbClr val="E04A0F"/>
                </a:solidFill>
                <a:latin typeface="Noto Sans KR"/>
                <a:ea typeface="Noto Sans KR"/>
                <a:cs typeface="Noto Sans KR"/>
              </a:rPr>
              <a:t>0.7%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9944" y="3401568"/>
            <a:ext cx="4745736" cy="402336"/>
          </a:xfrm>
          <a:prstGeom prst="roundRect">
            <a:avLst>
              <a:gd name="adj" fmla="val 22727"/>
            </a:avLst>
          </a:prstGeom>
          <a:solidFill>
            <a:srgbClr val="FCE6D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B73A08"/>
                </a:solidFill>
                <a:latin typeface="Noto Sans KR"/>
                <a:ea typeface="Noto Sans KR"/>
                <a:cs typeface="Noto Sans KR"/>
              </a:rPr>
              <a:t>시험 생산(A/B)으로 확인하기 전까지 관리 후보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" y="4352544"/>
            <a:ext cx="10570464" cy="1591056"/>
          </a:xfrm>
          <a:prstGeom prst="roundRect">
            <a:avLst>
              <a:gd name="adj" fmla="val 8045"/>
            </a:avLst>
          </a:prstGeom>
          <a:solidFill>
            <a:srgbClr val="0B5A8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66344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8FD0F5"/>
                </a:solidFill>
                <a:latin typeface="Noto Sans KR"/>
                <a:ea typeface="Noto Sans KR"/>
                <a:cs typeface="Noto Sans KR"/>
              </a:rPr>
              <a:t>하루 헛경보 (×0.1)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919472"/>
            <a:ext cx="283464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4400" b="1">
                <a:solidFill>
                  <a:srgbClr val="FFD08A"/>
                </a:solidFill>
                <a:latin typeface="Noto Sans KR"/>
                <a:ea typeface="Noto Sans KR"/>
                <a:cs typeface="Noto Sans KR"/>
              </a:rPr>
              <a:t>1,810건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4498848"/>
            <a:ext cx="7132320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지금 쓰면 하루 헛경보 1,810건입니다. 쓸지 말지는 이 선에서 정해 주세요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4901184"/>
            <a:ext cx="713232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CFE6F5"/>
                </a:solidFill>
                <a:latin typeface="Noto Sans KR"/>
                <a:ea typeface="Noto Sans KR"/>
                <a:cs typeface="Noto Sans KR"/>
              </a:rPr>
              <a:t>비용 비율은 가정: 5:1이면 24% 저렴, 20:1이면 이점 없음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CFE6F5"/>
                </a:solidFill>
                <a:latin typeface="Noto Sans KR"/>
                <a:ea typeface="Noto Sans KR"/>
                <a:cs typeface="Noto Sans KR"/>
              </a:rPr>
              <a:t>제출 기준(×1.0) 그대로면 새 샷 불량의 10%만 포착, ×0.1이면 약 90% 포착 대신 정상의 61%에 경보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0">
                <a:solidFill>
                  <a:srgbClr val="CFE6F5"/>
                </a:solidFill>
                <a:latin typeface="Noto Sans KR"/>
                <a:ea typeface="Noto Sans KR"/>
                <a:cs typeface="Noto Sans KR"/>
              </a:rPr>
              <a:t>1안은 뒤 샷 정보가 필요해 사후 일괄 선별용 · 실시간 판정은 2안(입력 25개)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14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12191695" cy="54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2336" y="201168"/>
            <a:ext cx="114300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AI 사용: 직접 검증해서 기각한 조언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9568" y="6153912"/>
            <a:ext cx="1527048" cy="40233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6117336"/>
            <a:ext cx="1271016" cy="4297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3816" y="1133856"/>
            <a:ext cx="4315968" cy="356616"/>
          </a:xfrm>
          <a:prstGeom prst="roundRect">
            <a:avLst>
              <a:gd name="adj" fmla="val 50000"/>
            </a:avLst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AI 조언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0136" y="1133856"/>
            <a:ext cx="5715000" cy="356616"/>
          </a:xfrm>
          <a:prstGeom prst="roundRect">
            <a:avLst>
              <a:gd name="adj" fmla="val 50000"/>
            </a:avLst>
          </a:prstGeom>
          <a:solidFill>
            <a:srgbClr val="0B5A8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직접 검증한 결과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627632"/>
            <a:ext cx="4306824" cy="960120"/>
          </a:xfrm>
          <a:prstGeom prst="roundRect">
            <a:avLst>
              <a:gd name="adj" fmla="val 11428"/>
            </a:avLst>
          </a:prstGeom>
          <a:solidFill>
            <a:srgbClr val="FCE6DC"/>
          </a:solidFill>
          <a:ln w="12700">
            <a:solidFill>
              <a:srgbClr val="F3C2AD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4128" y="1938528"/>
            <a:ext cx="329184" cy="329184"/>
          </a:xfrm>
          <a:prstGeom prst="ellipse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1737360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7A2A06"/>
                </a:solidFill>
                <a:latin typeface="Noto Sans KR"/>
                <a:ea typeface="Noto Sans KR"/>
                <a:cs typeface="Noto Sans KR"/>
              </a:rPr>
              <a:t>같은 조건 샷의 정답을 찾아 쓰면 0.65~0.70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1874519"/>
            <a:ext cx="36576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1627632"/>
            <a:ext cx="5705856" cy="96012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870448" y="1755648"/>
            <a:ext cx="502920" cy="246888"/>
          </a:xfrm>
          <a:prstGeom prst="roundRect">
            <a:avLst>
              <a:gd name="adj" fmla="val 50000"/>
            </a:avLst>
          </a:prstGeom>
          <a:solidFill>
            <a:srgbClr val="FCE6D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B73A08"/>
                </a:solidFill>
                <a:latin typeface="Noto Sans KR"/>
                <a:ea typeface="Noto Sans KR"/>
                <a:cs typeface="Noto Sans KR"/>
              </a:rPr>
              <a:t>기각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70448" y="2048256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>
                <a:solidFill>
                  <a:srgbClr val="E04A0F"/>
                </a:solidFill>
                <a:latin typeface="Noto Sans KR"/>
                <a:ea typeface="Noto Sans KR"/>
                <a:cs typeface="Noto Sans KR"/>
              </a:rPr>
              <a:t>약 0.58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1755648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모의 계산에 그쳐 기각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규칙상 이웃 샷의 정답은 쓸 수 없음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2706624"/>
            <a:ext cx="4306824" cy="960120"/>
          </a:xfrm>
          <a:prstGeom prst="roundRect">
            <a:avLst>
              <a:gd name="adj" fmla="val 11428"/>
            </a:avLst>
          </a:prstGeom>
          <a:solidFill>
            <a:srgbClr val="FCE6DC"/>
          </a:solidFill>
          <a:ln w="12700">
            <a:solidFill>
              <a:srgbClr val="F3C2AD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" y="3017520"/>
            <a:ext cx="329184" cy="329184"/>
          </a:xfrm>
          <a:prstGeom prst="ellipse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9616" y="2816352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7A2A06"/>
                </a:solidFill>
                <a:latin typeface="Noto Sans KR"/>
                <a:ea typeface="Noto Sans KR"/>
                <a:cs typeface="Noto Sans KR"/>
              </a:rPr>
              <a:t>불량을 더 많이 부르면 점수도 상승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0368" y="2953512"/>
            <a:ext cx="36576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0" y="2706624"/>
            <a:ext cx="5705856" cy="96012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870448" y="2834640"/>
            <a:ext cx="502920" cy="246888"/>
          </a:xfrm>
          <a:prstGeom prst="roundRect">
            <a:avLst>
              <a:gd name="adj" fmla="val 50000"/>
            </a:avLst>
          </a:prstGeom>
          <a:solidFill>
            <a:srgbClr val="FCE6D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B73A08"/>
                </a:solidFill>
                <a:latin typeface="Noto Sans KR"/>
                <a:ea typeface="Noto Sans KR"/>
                <a:cs typeface="Noto Sans KR"/>
              </a:rPr>
              <a:t>기각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0448" y="3127248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>
                <a:solidFill>
                  <a:srgbClr val="E04A0F"/>
                </a:solidFill>
                <a:latin typeface="Noto Sans KR"/>
                <a:ea typeface="Noto Sans KR"/>
                <a:cs typeface="Noto Sans KR"/>
              </a:rPr>
              <a:t>0.6125 → 0.6033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283464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포착률은 63~67%로 올랐으나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헛경보가 늘어 점수 하락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785615"/>
            <a:ext cx="4306824" cy="960120"/>
          </a:xfrm>
          <a:prstGeom prst="roundRect">
            <a:avLst>
              <a:gd name="adj" fmla="val 11428"/>
            </a:avLst>
          </a:prstGeom>
          <a:solidFill>
            <a:srgbClr val="FCE6DC"/>
          </a:solidFill>
          <a:ln w="12700">
            <a:solidFill>
              <a:srgbClr val="F3C2AD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4128" y="4096511"/>
            <a:ext cx="329184" cy="329184"/>
          </a:xfrm>
          <a:prstGeom prst="ellipse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99616" y="3895344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7A2A06"/>
                </a:solidFill>
                <a:latin typeface="Noto Sans KR"/>
                <a:ea typeface="Noto Sans KR"/>
                <a:cs typeface="Noto Sans KR"/>
              </a:rPr>
              <a:t>정상 확률 ×0.3~0.4로 낮추면 0.6 초과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0368" y="4032504"/>
            <a:ext cx="36576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0" y="3785615"/>
            <a:ext cx="5705856" cy="96012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870448" y="3913631"/>
            <a:ext cx="502920" cy="246888"/>
          </a:xfrm>
          <a:prstGeom prst="roundRect">
            <a:avLst>
              <a:gd name="adj" fmla="val 50000"/>
            </a:avLst>
          </a:prstGeom>
          <a:solidFill>
            <a:srgbClr val="FCE6D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B73A08"/>
                </a:solidFill>
                <a:latin typeface="Noto Sans KR"/>
                <a:ea typeface="Noto Sans KR"/>
                <a:cs typeface="Noto Sans KR"/>
              </a:rPr>
              <a:t>기각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0448" y="4206240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>
                <a:solidFill>
                  <a:srgbClr val="E04A0F"/>
                </a:solidFill>
                <a:latin typeface="Noto Sans KR"/>
                <a:ea typeface="Noto Sans KR"/>
                <a:cs typeface="Noto Sans KR"/>
              </a:rPr>
              <a:t>0.623 → 0.599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3913631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×0.4는 0.599, ×0.3은 0.580으로 하락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점수용 기각, 운영안에만 사용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4864608"/>
            <a:ext cx="4306824" cy="960120"/>
          </a:xfrm>
          <a:prstGeom prst="roundRect">
            <a:avLst>
              <a:gd name="adj" fmla="val 11428"/>
            </a:avLst>
          </a:prstGeom>
          <a:solidFill>
            <a:srgbClr val="FCE6DC"/>
          </a:solidFill>
          <a:ln w="12700">
            <a:solidFill>
              <a:srgbClr val="F3C2AD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24128" y="5175504"/>
            <a:ext cx="329184" cy="329184"/>
          </a:xfrm>
          <a:prstGeom prst="ellipse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0" rIns="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99616" y="4974336"/>
            <a:ext cx="352044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7A2A06"/>
                </a:solidFill>
                <a:latin typeface="Noto Sans KR"/>
                <a:ea typeface="Noto Sans KR"/>
                <a:cs typeface="Noto Sans KR"/>
              </a:rPr>
              <a:t>내부 점수(리더보드풍)가 리더보드를 예측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30368" y="5111496"/>
            <a:ext cx="36576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2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0" y="4864608"/>
            <a:ext cx="5705856" cy="960120"/>
          </a:xfrm>
          <a:prstGeom prst="roundRect">
            <a:avLst>
              <a:gd name="adj" fmla="val 11428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870448" y="4992624"/>
            <a:ext cx="502920" cy="246888"/>
          </a:xfrm>
          <a:prstGeom prst="roundRect">
            <a:avLst>
              <a:gd name="adj" fmla="val 50000"/>
            </a:avLst>
          </a:prstGeom>
          <a:solidFill>
            <a:srgbClr val="FCE6D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B73A08"/>
                </a:solidFill>
                <a:latin typeface="Noto Sans KR"/>
                <a:ea typeface="Noto Sans KR"/>
                <a:cs typeface="Noto Sans KR"/>
              </a:rPr>
              <a:t>기각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0448" y="5285232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00" b="1">
                <a:solidFill>
                  <a:srgbClr val="E04A0F"/>
                </a:solidFill>
                <a:latin typeface="Noto Sans KR"/>
                <a:ea typeface="Noto Sans KR"/>
                <a:cs typeface="Noto Sans KR"/>
              </a:rPr>
              <a:t>0.623 vs 0.5987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4992624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1안은 0.024 높고 2안은 약 0.02 낮음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오차 방향이 달라 순위 예측에 안 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0"/>
            <a:ext cx="1127455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440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감사합니다.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질문 받겠습니다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9568" y="6153912"/>
            <a:ext cx="1527048" cy="40233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6117336"/>
            <a:ext cx="1271016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14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12191695" cy="54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2336" y="201168"/>
            <a:ext cx="114300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A1 · 최종 모델 선택: 제출 5건을 같은 기준으로 다시 쟀다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9568" y="6153912"/>
            <a:ext cx="1527048" cy="40233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6117336"/>
            <a:ext cx="1271016" cy="42976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143000"/>
          <a:ext cx="1056132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77240"/>
                <a:gridCol w="1280160"/>
                <a:gridCol w="3657600"/>
                <a:gridCol w="1005840"/>
                <a:gridCol w="1325880"/>
                <a:gridCol w="118872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제출일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안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구성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public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리더보드 추정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새 입력 F1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새 생산 구간 F1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B5A8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10/23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B5A8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1안 (최종)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B5A8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RF + ExtraTrees · 두 단계 · 앞뒤 사건 입력 40개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B5A8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0.5987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B5A8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0.623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B5A8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0.258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B5A8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0.135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D6EA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10/26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C안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ET 잎1 + RF 잎6(같은 행 합쳐 학습) 평균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0.5906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0.614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0.296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0.175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10/26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B안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RF 잎1, 가중 0.5, Shot 쌍은 한 행만 학습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0.5747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0.596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0.300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0.199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10/26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2안 (D안)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RF 잎1 + RF 잎6 평균, 기타불량 ×1.5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0.5710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0.549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0.327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0.240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10/22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A안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RF 잎3, 300그루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0.5458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0.539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0.318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0.238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22960" y="3520440"/>
            <a:ext cx="10561320" cy="384048"/>
          </a:xfrm>
          <a:prstGeom prst="roundRect">
            <a:avLst>
              <a:gd name="adj" fmla="val 23809"/>
            </a:avLst>
          </a:prstGeom>
          <a:solidFill>
            <a:srgbClr val="E6F2FA"/>
          </a:solidFill>
          <a:ln>
            <a:noFill/>
          </a:ln>
        </p:spPr>
        <p:txBody>
          <a:bodyPr rtlCol="0" anchor="ctr" wrap="square" lIns="182880" rIns="182880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1안 계열 이력(public)  </a:t>
            </a:r>
            <a:r>
              <a:rPr sz="12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10/21 RF 잎10 0.4089 → 10/22 RF 잎1 0.5853 → 10/23 RF+ET 0.5895 → 10/23 1안 0.5987  (팀 전체로는 5번째 제출)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041648"/>
            <a:ext cx="3392424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33087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public 2등은 C안(0.5906)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43984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1안과 0.008 차이 → private 표본 흔들림(SD 0.037) 안이라 public만으로는 못 가름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4041648"/>
            <a:ext cx="3392424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4133087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학습 데이터로 다시 재도 1안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4443984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public을 쓰지 않는 리더보드 구조 추정에서 1안 0.623이 가장 높음 → 제출은 1안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91856" y="4041648"/>
            <a:ext cx="3392424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4133087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처음 보는 입력은 2안이 1등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4443984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새 입력 0.327 · 새 생산 구간 0.240으로 가장 높음 → 현장 비교안은 2안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66944"/>
            <a:ext cx="10561320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6A7179"/>
                </a:solidFill>
                <a:latin typeface="Noto Sans KR"/>
                <a:ea typeface="Noto Sans KR"/>
                <a:cs typeface="Noto Sans KR"/>
              </a:rPr>
              <a:t>검증: 학습 데이터 5,274샷 안에서만, 시드 7·123·2026 평균, 제출 파일과 같은 전처리 (ojs/etc/compare4.py). 리더보드 추정 = 무작위 5분할 결과를 시험의 같은 입력 비율에 맞춰 다시 채점.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6A7179"/>
                </a:solidFill>
                <a:latin typeface="Noto Sans KR"/>
                <a:ea typeface="Noto Sans KR"/>
                <a:cs typeface="Noto Sans KR"/>
              </a:rPr>
              <a:t>새 입력 = 같은 입력을 같은 쪽에 둔 5분할, 새 생산 구간 = 연속 100샷을 통째로 뗀 5분할. 보고서 4절의 2안 값(0.323 · 0.235)과는 전처리 차이로 0.005 안팎 다름.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14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12191695" cy="54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2336" y="201168"/>
            <a:ext cx="114300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A2 · 라벨 7종: 원본 26열을 우선순위로 접은 것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9568" y="6153912"/>
            <a:ext cx="1527048" cy="40233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6117336"/>
            <a:ext cx="1271016" cy="4297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188720"/>
            <a:ext cx="5120640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29844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원본 불량 기록 26열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600200"/>
            <a:ext cx="47548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불량 13유형 × _1 · _2  (학습 5,274샷에만 있음)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57400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386584"/>
            <a:ext cx="5120640" cy="1051560"/>
          </a:xfrm>
          <a:prstGeom prst="roundRect">
            <a:avLst>
              <a:gd name="adj" fmla="val 10434"/>
            </a:avLst>
          </a:prstGeom>
          <a:solidFill>
            <a:srgbClr val="E6F2FA"/>
          </a:solidFill>
          <a:ln w="19050">
            <a:solidFill>
              <a:srgbClr val="1676B2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49631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우선순위로 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798064"/>
            <a:ext cx="47548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미충전 &gt; 기공 &gt; 박리 &gt; 변형 &gt; 얼룩 &gt; 기타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(얼룩·변형은 같이 찍힌 샷이 없어 순서 구분 불가)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38144"/>
            <a:ext cx="512064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767328"/>
            <a:ext cx="5120640" cy="868680"/>
          </a:xfrm>
          <a:prstGeom prst="roundRect">
            <a:avLst>
              <a:gd name="adj" fmla="val 12631"/>
            </a:avLst>
          </a:prstGeom>
          <a:solidFill>
            <a:srgbClr val="0B5A8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877056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8FD0F5"/>
                </a:solidFill>
                <a:latin typeface="Noto Sans KR"/>
                <a:ea typeface="Noto Sans KR"/>
                <a:cs typeface="Noto Sans KR"/>
              </a:rPr>
              <a:t>정답 라벨 7종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178808"/>
            <a:ext cx="4754880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정상 + 이름 있는 불량 5종 + 기타불량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1887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직접 접어 본 결과 (정답 라벨과 다른 샷 수)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536192"/>
            <a:ext cx="1627632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645920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37A05C"/>
                </a:solidFill>
                <a:latin typeface="Noto Sans KR"/>
                <a:ea typeface="Noto Sans KR"/>
                <a:cs typeface="Noto Sans KR"/>
              </a:rPr>
              <a:t>0건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6792" y="2157984"/>
            <a:ext cx="148132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_1 · _2 둘 다 보고 접기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536192"/>
            <a:ext cx="1627632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01000" y="1645920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E04A0F"/>
                </a:solidFill>
                <a:latin typeface="Noto Sans KR"/>
                <a:ea typeface="Noto Sans KR"/>
                <a:cs typeface="Noto Sans KR"/>
              </a:rPr>
              <a:t>323건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4152" y="2157984"/>
            <a:ext cx="148132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_1 열만 보고 접기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38359" y="1536192"/>
            <a:ext cx="1627632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38359" y="1645920"/>
            <a:ext cx="1627632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1">
                <a:solidFill>
                  <a:srgbClr val="E04A0F"/>
                </a:solidFill>
                <a:latin typeface="Noto Sans KR"/>
                <a:ea typeface="Noto Sans KR"/>
                <a:cs typeface="Noto Sans KR"/>
              </a:rPr>
              <a:t>830건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1511" y="2157984"/>
            <a:ext cx="1481328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_2 열만 보고 접기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2761488"/>
            <a:ext cx="5120640" cy="201168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28620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접으면서 사라지는 정보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3182112"/>
            <a:ext cx="4800600" cy="1554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두 종류가 찍힌 85행의 두 번째 불량</a:t>
            </a: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 (이름 있는 5종 기준 78행). 예: 얼룩이 찍힌 133행 중 33행은 미충전·기공 라벨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_1 · _2 구분</a:t>
            </a: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 — 불량 행 1,182행 중 98%에서 값이 다름(사본 아님). 의미는 위치·검사 단계·캐비티 3가설, 확정 못 함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값 2(49칸) · 3(1칸)</a:t>
            </a: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 — 개수나 정도일 수 있으나 확인 불가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937760"/>
            <a:ext cx="10561320" cy="987552"/>
          </a:xfrm>
          <a:prstGeom prst="roundRect">
            <a:avLst>
              <a:gd name="adj" fmla="val 11111"/>
            </a:avLst>
          </a:prstGeom>
          <a:solidFill>
            <a:srgbClr val="0B5A8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02920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FFD08A"/>
                </a:solidFill>
                <a:latin typeface="Noto Sans KR"/>
                <a:ea typeface="Noto Sans KR"/>
                <a:cs typeface="Noto Sans KR"/>
              </a:rPr>
              <a:t>기타불량 76행 중 52건이 Bubble</a:t>
            </a:r>
            <a:r>
              <a:rPr sz="14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— 서로 다른 희소 유형을 한 칸에 묶은 라벨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모델은 처음 보는 입력에서 기타불량 76건 중 0건을 맞힘 → 운영에서는 종류 판정보다 검사할 샷 선별에 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14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12191695" cy="54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2336" y="201168"/>
            <a:ext cx="114300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A3 · 경보 기준 한 줄: 놓침과 헛경보가 맞바뀐다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9568" y="6153912"/>
            <a:ext cx="1527048" cy="40233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6117336"/>
            <a:ext cx="1271016" cy="4297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170432"/>
            <a:ext cx="4754880" cy="2011680"/>
          </a:xfrm>
          <a:prstGeom prst="roundRect">
            <a:avLst>
              <a:gd name="adj" fmla="val 5454"/>
            </a:avLst>
          </a:prstGeom>
          <a:solidFill>
            <a:srgbClr val="0A2F4A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28016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8FD0F5"/>
                </a:solidFill>
                <a:latin typeface="Noto Sans KR"/>
                <a:ea typeface="Noto Sans KR"/>
                <a:cs typeface="Noto Sans KR"/>
              </a:rPr>
              <a:t>main.py  「1. 설정」 블록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627632"/>
            <a:ext cx="443484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7FA3BF"/>
                </a:solidFill>
                <a:latin typeface="Consolas"/>
                <a:ea typeface="Noto Sans KR"/>
                <a:cs typeface="Consolas"/>
              </a:rPr>
              <a:t>40  </a:t>
            </a:r>
            <a:r>
              <a:rPr sz="1300" b="0">
                <a:solidFill>
                  <a:srgbClr val="FFFFFF"/>
                </a:solidFill>
                <a:latin typeface="Consolas"/>
                <a:ea typeface="Noto Sans KR"/>
                <a:cs typeface="Consolas"/>
              </a:rPr>
              <a:t>TEAM_NAME = </a:t>
            </a:r>
            <a:r>
              <a:rPr sz="1300" b="0">
                <a:solidFill>
                  <a:srgbClr val="FFD08A"/>
                </a:solidFill>
                <a:latin typeface="Consolas"/>
                <a:ea typeface="Noto Sans KR"/>
                <a:cs typeface="Consolas"/>
              </a:rPr>
              <a:t>"1조_alert05"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0">
                <a:solidFill>
                  <a:srgbClr val="9FC2DA"/>
                </a:solidFill>
                <a:latin typeface="Noto Sans KR"/>
                <a:ea typeface="Noto Sans KR"/>
                <a:cs typeface="Noto Sans KR"/>
              </a:rPr>
              <a:t>      ← 제출 파일 덮어쓰기 방지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7FA3BF"/>
                </a:solidFill>
                <a:latin typeface="Consolas"/>
                <a:ea typeface="Noto Sans KR"/>
                <a:cs typeface="Consolas"/>
              </a:rPr>
              <a:t>73  </a:t>
            </a:r>
            <a:r>
              <a:rPr sz="1300" b="0">
                <a:solidFill>
                  <a:srgbClr val="FFFFFF"/>
                </a:solidFill>
                <a:latin typeface="Consolas"/>
                <a:ea typeface="Noto Sans KR"/>
                <a:cs typeface="Consolas"/>
              </a:rPr>
              <a:t>ALERT_NORMAL_SCALE = </a:t>
            </a:r>
            <a:r>
              <a:rPr sz="1300" b="0">
                <a:solidFill>
                  <a:srgbClr val="FFD08A"/>
                </a:solidFill>
                <a:latin typeface="Consolas"/>
                <a:ea typeface="Noto Sans KR"/>
                <a:cs typeface="Consolas"/>
              </a:rPr>
              <a:t>0.5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0">
                <a:solidFill>
                  <a:srgbClr val="9FC2DA"/>
                </a:solidFill>
                <a:latin typeface="Noto Sans KR"/>
                <a:ea typeface="Noto Sans KR"/>
                <a:cs typeface="Noto Sans KR"/>
              </a:rPr>
              <a:t>      ← 강사님이 부른 값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7FA3BF"/>
                </a:solidFill>
                <a:latin typeface="Consolas"/>
                <a:ea typeface="Noto Sans KR"/>
                <a:cs typeface="Consolas"/>
              </a:rPr>
              <a:t>$ </a:t>
            </a:r>
            <a:r>
              <a:rPr sz="1300" b="0">
                <a:solidFill>
                  <a:srgbClr val="FFFFFF"/>
                </a:solidFill>
                <a:latin typeface="Consolas"/>
                <a:ea typeface="Noto Sans KR"/>
                <a:cs typeface="Consolas"/>
              </a:rPr>
              <a:t>python main.py</a:t>
            </a:r>
            <a:r>
              <a:rPr sz="1050" b="0">
                <a:solidFill>
                  <a:srgbClr val="9FC2DA"/>
                </a:solidFill>
                <a:latin typeface="Noto Sans KR"/>
                <a:ea typeface="Noto Sans KR"/>
                <a:cs typeface="Noto Sans KR"/>
              </a:rPr>
              <a:t>   (약 30~40초)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10128"/>
            <a:ext cx="475488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401568"/>
            <a:ext cx="43891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출력에서 읽을 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3685032"/>
            <a:ext cx="4434840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「합쳐서 채점한 macro F1」 줄 (위의 「조각1~5」 줄이 아님)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「불량 1182건 중 ○건 탐지 …, 정상 4092건 중 ○건을 불량이라 함」 줄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놓침 = 1,182 − 탐지</a:t>
            </a:r>
            <a:r>
              <a:rPr sz="11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  (출력에 따로 안 나옴)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끝나면 "1조", 1.0으로 되돌리기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806440" y="1170432"/>
          <a:ext cx="5577840" cy="2715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234440"/>
                <a:gridCol w="731520"/>
                <a:gridCol w="731520"/>
                <a:gridCol w="777240"/>
                <a:gridCol w="914400"/>
              </a:tblGrid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경보 기준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탐지 (탐지율)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놓침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헛경보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정확도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macro F1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×0.5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393 (33.2%)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789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439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73.8%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0.3159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×0.6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306 (25.9%)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876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314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75.2%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0.3017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×0.7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239 (20.2%)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943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231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76.1%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0.2842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×0.8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190 (16.1%)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992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169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76.8%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0.2817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×0.9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157 (13.3%)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1,025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115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77.4%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0.2669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0B5A8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×1.0 (지금)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B5A8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137 (11.6%)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B5A8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1,045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B5A8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85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B5A8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77.7%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D6EA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B5A8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0.2590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D6EAF8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×1.25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90 (7.6%)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1,092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51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77.8%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0.2391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×1.5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 (4.9%)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1,124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77.9%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0.2177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806440" y="4169663"/>
            <a:ext cx="55778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6A7179"/>
                </a:solidFill>
                <a:latin typeface="Noto Sans KR"/>
                <a:ea typeface="Noto Sans KR"/>
                <a:cs typeface="Noto Sans KR"/>
              </a:rPr>
              <a:t>10/28 코드 그대로 · 시드 42 · 5분할(같은 입력은 같은 쪽) = 처음 보는 입력이라 F1 0.2대가 정상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06440" y="4389120"/>
            <a:ext cx="5577840" cy="384048"/>
          </a:xfrm>
          <a:prstGeom prst="roundRect">
            <a:avLst>
              <a:gd name="adj" fmla="val 23809"/>
            </a:avLst>
          </a:prstGeom>
          <a:solidFill>
            <a:srgbClr val="E6F2FA"/>
          </a:solidFill>
          <a:ln>
            <a:noFill/>
          </a:ln>
        </p:spPr>
        <p:txBody>
          <a:bodyPr rtlCol="0" anchor="ctr" wrap="square" lIns="137160" rIns="137160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×1.0 → ×0.5  </a:t>
            </a: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놓침 −256건, 헛경보 +354건 = 놓침 1건 줄일 때 헛경보 약 1.4건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901184"/>
            <a:ext cx="10561320" cy="1024128"/>
          </a:xfrm>
          <a:prstGeom prst="roundRect">
            <a:avLst>
              <a:gd name="adj" fmla="val 10714"/>
            </a:avLst>
          </a:prstGeom>
          <a:solidFill>
            <a:srgbClr val="0B5A8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983480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1">
                <a:solidFill>
                  <a:srgbClr val="FFD08A"/>
                </a:solidFill>
                <a:latin typeface="Noto Sans KR"/>
                <a:ea typeface="Noto Sans KR"/>
                <a:cs typeface="Noto Sans KR"/>
              </a:rPr>
              <a:t>class_weight</a:t>
            </a:r>
            <a:r>
              <a:rPr sz="1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= balanced 가중치의 0.5제곱 (62행 CLASS_WEIGHT_POWER). 0.3 · 0.75 · 1.0으로 바꿔도 −0.0002 · +0.0006 · −0.0007 → 0.5 유지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1">
                <a:solidFill>
                  <a:srgbClr val="FFD08A"/>
                </a:solidFill>
                <a:latin typeface="Noto Sans KR"/>
                <a:ea typeface="Noto Sans KR"/>
                <a:cs typeface="Noto Sans KR"/>
              </a:rPr>
              <a:t>0으로 해도 반만 꺼짐</a:t>
            </a:r>
            <a:r>
              <a:rPr sz="1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: 7종을 한 번에 고르는 쪽만 이 값을 쓰고, 두 단계 쪽은 balanced_subsample · balanced로 고정 (301–302행)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14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12191695" cy="54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2336" y="201168"/>
            <a:ext cx="114300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A4 · 모델을 바꾸면 비용이 줄어드나: 기준을 맞추면 4% 안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9568" y="6153912"/>
            <a:ext cx="1527048" cy="40233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6117336"/>
            <a:ext cx="1271016" cy="4297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143000"/>
            <a:ext cx="6400800" cy="4773168"/>
          </a:xfrm>
          <a:prstGeom prst="roundRect">
            <a:avLst>
              <a:gd name="adj" fmla="val 2298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123444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경보 기준별 하루 총비용 (10:1, 처음 보는 입력, 하루 3,800샷)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914400" y="1554480"/>
          <a:ext cx="6217920" cy="429768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406640" y="1143000"/>
          <a:ext cx="397764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60120"/>
                <a:gridCol w="1188720"/>
                <a:gridCol w="1828800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1,000샷당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×1.0 비용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자기 최저 (그때 기준)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1안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2,024 / 2,218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660 / 732  (×0.05 / ×0.1)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2안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1,307 / 1,664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684 / 738  (×0.1 / ×0.2)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전수 검사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776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776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406640" y="2724912"/>
            <a:ext cx="3977639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6A7179"/>
                </a:solidFill>
                <a:latin typeface="Noto Sans KR"/>
                <a:ea typeface="Noto Sans KR"/>
                <a:cs typeface="Noto Sans KR"/>
              </a:rPr>
              <a:t>왼쪽 값 / 오른쪽 값 = 처음 보는 입력 / 새 생산 구간, 10:1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3035808"/>
            <a:ext cx="3977639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3127248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×1.0끼리 보면 2안이 35% 넘게 싸 보이지만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3419856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모델마다 기준을 맞추면 최저 비용은 4% 안 (660 대 684)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4014215"/>
            <a:ext cx="3977639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4105655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전수 검사보다는 둘 다 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4398264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처음 보는 입력에서 12~15%, 새 생산 구간에서 5~6% 저렴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40" y="4992624"/>
            <a:ext cx="3977639" cy="868680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0" y="5084064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그래도 2안을 현장 후보로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5376672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입력 25개라 설명이 쉽고, 뒤 사건 입력이 필요 없어 실시간 판정 가능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14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12191695" cy="54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2336" y="201168"/>
            <a:ext cx="114300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A5 · 같은 1안인데 숫자가 조금씩 다른 이유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9568" y="6153912"/>
            <a:ext cx="1527048" cy="40233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6117336"/>
            <a:ext cx="1271016" cy="42976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143000"/>
          <a:ext cx="10561320" cy="4114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926080"/>
                <a:gridCol w="5303520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무엇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왜 다른가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0B5A8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새 샷에서 잡은 불량 / 헛경보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122 / 73 · 139 / 82 · 137 / 85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시드 3개 평균(2×2) · 한 번 실행(혼동행렬) · main.py 시드 42(부록 A3)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놓친 불량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1,060건(90%) · 1,043건(88%)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위와 같은 이유 (시드 3개 평균 vs 한 번 실행)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처음 보는 입력 F1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0.258 · 0.256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5분할·시드 3개(보고서 4절) vs 80/20·시드 5개(보고서 6절)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리더보드풍 내부 점수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0.610 · 0.612 · 0.623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잎 크기 비교(0.608은 잎 2 변형) · 학습곡선 100%(시드 2개) · 경보 기준 비교(시드 4개)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점수 흔들림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SD 0.037 (≈ 0.03)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private 1,131샷의 표본 흔들림. 0.03은 반올림한 옛 표기 → 0.037로 통일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10:1 최저 하루 비용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2,506 · 2,523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그래프(시드 3개) vs 비용표(시드 4개). 결론(×0.05 최저, ×0.1 운영안)은 같음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1안의 제출 순서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4회차 · 5번째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1안 계열(RF 잎10 → RF 잎1 → RF+ET → 1안)로 4회차, 팀 전체 제출로는 5번째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기공 기준값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2.543 (이전 자료 2.537)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0A2F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미충전은 High_Velocity 2.537 초과, 기공은 2.543 초과 (보고서 8절)</a:t>
                      </a:r>
                    </a:p>
                  </a:txBody>
                  <a:tcPr marL="91440" marR="91440" marT="18288" marB="18288" anchor="ctr">
                    <a:lnL w="9525" cap="flat" cmpd="sng" algn="ctr">
                      <a:solidFill>
                        <a:srgbClr val="C1C6C9"/>
                      </a:solidFill>
                      <a:prstDash val="solid"/>
                    </a:lnL>
                    <a:lnR w="9525" cap="flat" cmpd="sng" algn="ctr">
                      <a:solidFill>
                        <a:srgbClr val="C1C6C9"/>
                      </a:solidFill>
                      <a:prstDash val="solid"/>
                    </a:lnR>
                    <a:lnT w="9525" cap="flat" cmpd="sng" algn="ctr">
                      <a:solidFill>
                        <a:srgbClr val="C1C6C9"/>
                      </a:solidFill>
                      <a:prstDash val="solid"/>
                    </a:lnT>
                    <a:lnB w="9525" cap="flat" cmpd="sng" algn="ctr">
                      <a:solidFill>
                        <a:srgbClr val="C1C6C9"/>
                      </a:solidFill>
                      <a:prstDash val="solid"/>
                    </a:lnB>
                    <a:solidFill>
                      <a:srgbClr val="F4F9FD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22960" y="5376672"/>
            <a:ext cx="10561320" cy="548640"/>
          </a:xfrm>
          <a:prstGeom prst="roundRect">
            <a:avLst>
              <a:gd name="adj" fmla="val 20000"/>
            </a:avLst>
          </a:prstGeom>
          <a:solidFill>
            <a:srgbClr val="0B5A8C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띄운 화면의 숫자를 말하고, 물으면 '검증 방식과 시드 수가 달라서'. 결론은 어느 숫자로도 같다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914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00"/>
            <a:ext cx="12191695" cy="54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02336" y="201168"/>
            <a:ext cx="11430000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부록 A6 · 앞뒤 샷 입력을 쓸 때 정직한 검증: 이웃을 같이 떼어 낸다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9568" y="6153912"/>
            <a:ext cx="1527048" cy="40233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336" y="6117336"/>
            <a:ext cx="1271016" cy="4297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143000"/>
            <a:ext cx="1056132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CFE3F0"/>
            </a:solidFill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234440"/>
            <a:ext cx="56692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생산 순서 →</a:t>
            </a:r>
            <a:r>
              <a:rPr sz="1200" b="1">
                <a:solidFill>
                  <a:srgbClr val="1676B2"/>
                </a:solidFill>
                <a:latin typeface="Noto Sans KR"/>
                <a:ea typeface="Noto Sans KR"/>
                <a:cs typeface="Noto Sans KR"/>
              </a:rPr>
              <a:t>   ■ 학습</a:t>
            </a:r>
            <a:r>
              <a:rPr sz="1200" b="1">
                <a:solidFill>
                  <a:srgbClr val="E04A0F"/>
                </a:solidFill>
                <a:latin typeface="Noto Sans KR"/>
                <a:ea typeface="Noto Sans KR"/>
                <a:cs typeface="Noto Sans KR"/>
              </a:rPr>
              <a:t>   ■ 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1234440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676B2"/>
                </a:solidFill>
                <a:latin typeface="Noto Sans KR"/>
                <a:ea typeface="Noto Sans KR"/>
                <a:cs typeface="Noto Sans KR"/>
              </a:rPr>
              <a:t>1안 F1 / 탐지율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123444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B07A1E"/>
                </a:solidFill>
                <a:latin typeface="Noto Sans KR"/>
                <a:ea typeface="Noto Sans KR"/>
                <a:cs typeface="Noto Sans KR"/>
              </a:rPr>
              <a:t>2안 F1 / 탐지율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62763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같은 입력 묶음 5분할</a:t>
            </a:r>
            <a:r>
              <a:rPr sz="110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   쌍둥이를 같은 쪽에 = 처음 보는 입력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34439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2588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17319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08760" y="19568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0020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91640" y="19568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83080" y="19568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74519" y="19568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965960" y="19568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05740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4884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4028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3172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2316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51460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0604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9748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8892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88036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97180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063240" y="19568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54680" y="19568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4612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3756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2900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2044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1188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03320" y="19568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794760" y="19568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88620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77639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6908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6052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5196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4340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43484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2628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61772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70916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80060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9204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983479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74920" y="19568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166360" y="19568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257800" y="19568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34924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440680" y="19568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532120" y="19568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62356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71500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80644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89788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98932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08076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7220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263640" y="19568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355080" y="19568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446520" y="19568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086600" y="181051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676B2"/>
                </a:solidFill>
                <a:latin typeface="Noto Sans KR"/>
                <a:ea typeface="Noto Sans KR"/>
                <a:cs typeface="Noto Sans KR"/>
              </a:rPr>
              <a:t>0.258 / 10.3%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44000" y="181051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B07A1E"/>
                </a:solidFill>
                <a:latin typeface="Noto Sans KR"/>
                <a:ea typeface="Noto Sans KR"/>
                <a:cs typeface="Noto Sans KR"/>
              </a:rPr>
              <a:t>0.323 / 48%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51560" y="254203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연속 100샷 통째 5분할</a:t>
            </a:r>
            <a:r>
              <a:rPr sz="110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   이웃 샷을 같이 떼어 냄 = 새 생산 구간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5156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14300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234439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32588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417319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50876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60020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69164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783080" y="28712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874519" y="28712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965960" y="28712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057400" y="28712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14884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24028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33172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42316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51460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60604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69748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278892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288036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297180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06324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15468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24612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33756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42900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52044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611880" y="28712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3703320" y="28712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3794760" y="28712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886200" y="28712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977639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06908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416052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25196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34340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43484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52628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61772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70916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80060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89204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983479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07492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16636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25780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34924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5440680" y="28712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5532120" y="28712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5623560" y="28712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715000" y="28712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80644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589788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598932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608076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17220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26364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35508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446520" y="28712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086600" y="272491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676B2"/>
                </a:solidFill>
                <a:latin typeface="Noto Sans KR"/>
                <a:ea typeface="Noto Sans KR"/>
                <a:cs typeface="Noto Sans KR"/>
              </a:rPr>
              <a:t>0.136 / 1.2%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144000" y="272491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B07A1E"/>
                </a:solidFill>
                <a:latin typeface="Noto Sans KR"/>
                <a:ea typeface="Noto Sans KR"/>
                <a:cs typeface="Noto Sans KR"/>
              </a:rPr>
              <a:t>0.235 / 31%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1560" y="345643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시간순 80/20</a:t>
            </a:r>
            <a:r>
              <a:rPr sz="1100" b="0">
                <a:solidFill>
                  <a:srgbClr val="2E4A60"/>
                </a:solidFill>
                <a:latin typeface="Noto Sans KR"/>
                <a:ea typeface="Noto Sans KR"/>
                <a:cs typeface="Noto Sans KR"/>
              </a:rPr>
              <a:t>   앞 80%로 학습, 뒤 20% 검증 = 현장 배포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05156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14300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234439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32588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417319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50876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60020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69164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178308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1874519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196596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205740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214884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24028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233172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242316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251460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260604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69748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278892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8036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97180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306324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15468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24612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33756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42900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352044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361188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370332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379476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388620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977639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406908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416052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425196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434340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443484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52628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61772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70916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480060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489204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4983479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507492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516636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525780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5349240" y="3785616"/>
            <a:ext cx="77724" cy="274320"/>
          </a:xfrm>
          <a:prstGeom prst="rect">
            <a:avLst/>
          </a:prstGeom>
          <a:solidFill>
            <a:srgbClr val="1676B2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5440680" y="37856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5532120" y="37856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623560" y="37856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715000" y="37856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806440" y="37856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897880" y="37856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989320" y="37856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6080760" y="37856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6172200" y="37856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6263640" y="37856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6355080" y="37856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6446520" y="3785616"/>
            <a:ext cx="77724" cy="274320"/>
          </a:xfrm>
          <a:prstGeom prst="rect">
            <a:avLst/>
          </a:prstGeom>
          <a:solidFill>
            <a:srgbClr val="E04A0F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086600" y="3639312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676B2"/>
                </a:solidFill>
                <a:latin typeface="Noto Sans KR"/>
                <a:ea typeface="Noto Sans KR"/>
                <a:cs typeface="Noto Sans KR"/>
              </a:rPr>
              <a:t>0.125 / 0%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9144000" y="363931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B07A1E"/>
                </a:solidFill>
                <a:latin typeface="Noto Sans KR"/>
                <a:ea typeface="Noto Sans KR"/>
                <a:cs typeface="Noto Sans KR"/>
              </a:rPr>
              <a:t>0.111 / 31%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1051560" y="4142232"/>
            <a:ext cx="10058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6A7179"/>
                </a:solidFill>
                <a:latin typeface="Noto Sans KR"/>
                <a:ea typeface="Noto Sans KR"/>
                <a:cs typeface="Noto Sans KR"/>
              </a:rPr>
              <a:t>그림은 모양만 보여 주는 예시. 점수는 보고서 4·6절 (시드 평균). 무작위 80/20은 1안 0.560 · 2안 0.504로 크게 부풂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822960" y="4526280"/>
            <a:ext cx="3392424" cy="1399032"/>
          </a:xfrm>
          <a:prstGeom prst="roundRect">
            <a:avLst>
              <a:gd name="adj" fmla="val 7843"/>
            </a:avLst>
          </a:prstGeom>
          <a:solidFill>
            <a:srgbClr val="E6F2FA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1005840" y="463600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정답은 안 씀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005840" y="4956048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앞뒤 사건 특징은 이웃 샷의 입력값만 사용. 이웃의 라벨·라벨 평균은 쓰지 않음 (규칙 준수)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4407408" y="4526280"/>
            <a:ext cx="3392424" cy="1399032"/>
          </a:xfrm>
          <a:prstGeom prst="roundRect">
            <a:avLst>
              <a:gd name="adj" fmla="val 7843"/>
            </a:avLst>
          </a:prstGeom>
          <a:solidFill>
            <a:srgbClr val="E6F2FA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4590288" y="463600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이웃을 같이 떼어 낸다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590288" y="4956048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이웃이 학습·검증에 갈라지면 같은 시기를 본 셈 → 연속 구간·시간순으로 따로 재서 한계를 밝힘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7991856" y="4526280"/>
            <a:ext cx="3392424" cy="1399032"/>
          </a:xfrm>
          <a:prstGeom prst="roundRect">
            <a:avLst>
              <a:gd name="adj" fmla="val 7843"/>
            </a:avLst>
          </a:prstGeom>
          <a:solidFill>
            <a:srgbClr val="E6F2FA"/>
          </a:solidFill>
          <a:ln>
            <a:noFill/>
          </a:ln>
        </p:spPr>
        <p:txBody>
          <a:bodyPr rtlCol="0" anchor="ctr" wrap="square" lIns="45720" rIns="45720" tIns="18288" bIns="18288">
            <a:noAutofit/>
          </a:bodyPr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8174736" y="463600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0B5A8C"/>
                </a:solidFill>
                <a:latin typeface="Noto Sans KR"/>
                <a:ea typeface="Noto Sans KR"/>
                <a:cs typeface="Noto Sans KR"/>
              </a:rPr>
              <a:t>실시간이면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8174736" y="4956048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0A2F4A"/>
                </a:solidFill>
                <a:latin typeface="Noto Sans KR"/>
                <a:ea typeface="Noto Sans KR"/>
                <a:cs typeface="Noto Sans KR"/>
              </a:rPr>
              <a:t>뒤 사건은 현장에서 아직 모름. 앞 사건만 쓰면 이득이 사라져(−0.0002) 실시간은 2안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주조 불량 유형 예측 — 1조 최종 발표">
  <a:themeElements>
    <a:clrScheme name="주조 불량 유형 예측 — 1조 최종 발표">
      <a:dk1>
        <a:srgbClr val="0A2F4A"/>
      </a:dk1>
      <a:lt1>
        <a:srgbClr val="F2F8FC"/>
      </a:lt1>
      <a:dk2>
        <a:srgbClr val="446177"/>
      </a:dk2>
      <a:lt2>
        <a:srgbClr val="DBE4EA"/>
      </a:lt2>
      <a:accent1>
        <a:srgbClr val="0B5A8C"/>
      </a:accent1>
      <a:accent2>
        <a:srgbClr val="2E4A60"/>
      </a:accent2>
      <a:accent3>
        <a:srgbClr val="1676B2"/>
      </a:accent3>
      <a:accent4>
        <a:srgbClr val="E04A0F"/>
      </a:accent4>
      <a:accent5>
        <a:srgbClr val="0D4468"/>
      </a:accent5>
      <a:accent6>
        <a:srgbClr val="8FD0F5"/>
      </a:accent6>
      <a:hlink>
        <a:srgbClr val="0563C1"/>
      </a:hlink>
      <a:folHlink>
        <a:srgbClr val="954F72"/>
      </a:folHlink>
    </a:clrScheme>
    <a:fontScheme name="주조 불량 유형 예측 — 1조 최종 발표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1321</Words>
  <Application>Microsoft Office PowerPoint</Application>
  <PresentationFormat>와이드스크린</PresentationFormat>
  <Paragraphs>345</Paragraphs>
  <Slides>13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Noto Sans KR</vt:lpstr>
      <vt:lpstr>Arial</vt:lpstr>
      <vt:lpstr>주조 불량 유형 예측 — 1조 최종 발표</vt:lpstr>
      <vt:lpstr>주조 불량 유형 예측</vt:lpstr>
      <vt:lpstr>문제: 불량 유형을 미리 알 수 있는가</vt:lpstr>
      <vt:lpstr>데이터에서 찾은 것 4가지</vt:lpstr>
      <vt:lpstr>접근 방법: 기준 모델에서 최종 모델까지</vt:lpstr>
      <vt:lpstr>학습곡선: 데이터를 더 모으면 좋아지는가</vt:lpstr>
      <vt:lpstr>뭘 뭐로 착각했나: 놓친 불량 1,043건(90%)</vt:lpstr>
      <vt:lpstr>특징 중요도: 모델이 보는 공정 조건</vt:lpstr>
      <vt:lpstr>운영 기준 비용표(하루 3,800샷)</vt:lpstr>
      <vt:lpstr>불량 원인: 조건 구간별 불량률</vt:lpstr>
      <vt:lpstr>실험에서 배운 것</vt:lpstr>
      <vt:lpstr>현장 제안: 내일 이걸 쓴다면</vt:lpstr>
      <vt:lpstr>AI 사용과 검증으로 기각한 조언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주조 불량 유형 예측 — 1조 최종 발표</dc:title>
  <dc:subject/>
  <dc:creator/>
  <cp:lastModifiedBy>지수 김</cp:lastModifiedBy>
  <cp:revision>3</cp:revision>
  <dcterms:created xsi:type="dcterms:W3CDTF">2026-10-28T04:49:43Z</dcterms:created>
  <dcterms:modified xsi:type="dcterms:W3CDTF">2026-10-28T05:47:27Z</dcterms:modified>
</cp:coreProperties>
</file>