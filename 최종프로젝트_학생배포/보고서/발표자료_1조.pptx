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02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08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215900"/>
            <a:ext cx="11722100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406400" y="982960"/>
            <a:ext cx="10972800" cy="506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215900"/>
            <a:ext cx="11722100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406400" y="982960"/>
            <a:ext cx="10972800" cy="506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69" b="769"/>
          <a:stretch/>
        </p:blipFill>
        <p:spPr>
          <a:xfrm>
            <a:off x="0" y="0"/>
            <a:ext cx="12192000" cy="152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159000"/>
            <a:ext cx="762000" cy="762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812800" y="2489200"/>
            <a:ext cx="10883392" cy="103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20"/>
              </a:lnSpc>
              <a:buNone/>
            </a:pPr>
            <a:r>
              <a:rPr lang="en-US" sz="66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주조 불량 유형 예측</a:t>
            </a:r>
            <a:endParaRPr lang="en-US" sz="6600" dirty="0"/>
          </a:p>
        </p:txBody>
      </p:sp>
      <p:sp>
        <p:nvSpPr>
          <p:cNvPr id="5" name="Text 1"/>
          <p:cNvSpPr/>
          <p:nvPr/>
        </p:nvSpPr>
        <p:spPr>
          <a:xfrm>
            <a:off x="812800" y="366395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8FD0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다이캐스팅 불량, 금형을 열기 전에 잡아낸다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12800" y="43815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FE6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· 포스코 K-뉴딜아카데미 딥러닝 최종 프로젝트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82800" y="3409950"/>
            <a:ext cx="857250" cy="1117600"/>
          </a:xfrm>
          <a:prstGeom prst="rect">
            <a:avLst/>
          </a:prstGeom>
          <a:solidFill>
            <a:srgbClr val="C5D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715000" y="3409950"/>
            <a:ext cx="857250" cy="1117600"/>
          </a:xfrm>
          <a:prstGeom prst="rect">
            <a:avLst/>
          </a:prstGeom>
          <a:solidFill>
            <a:srgbClr val="C5D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02750" y="3409950"/>
            <a:ext cx="857250" cy="1117600"/>
          </a:xfrm>
          <a:prstGeom prst="rect">
            <a:avLst/>
          </a:prstGeom>
          <a:solidFill>
            <a:srgbClr val="C5DE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문제: 불량 유형을 미리 알 수 있는가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2800" y="1454150"/>
            <a:ext cx="10566400" cy="768350"/>
          </a:xfrm>
          <a:prstGeom prst="roundRect">
            <a:avLst>
              <a:gd name="adj" fmla="val 13223"/>
            </a:avLst>
          </a:prstGeom>
          <a:solidFill>
            <a:srgbClr val="0B5A8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금형을 열기 전, 공정 조건만으로 불량 유형을 알 수 있는가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819150" y="2482850"/>
            <a:ext cx="3365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732702" y="2680990"/>
            <a:ext cx="1538347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7,535샷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1498089" y="3158480"/>
            <a:ext cx="200757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5,274 · 시험 2,261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13250" y="2482850"/>
            <a:ext cx="3365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577488" y="2680990"/>
            <a:ext cx="1036975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463778" y="3158480"/>
            <a:ext cx="126444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+ 불량 6종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01000" y="2482850"/>
            <a:ext cx="3365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9031288" y="2680990"/>
            <a:ext cx="1304925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22.4%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910260" y="3158480"/>
            <a:ext cx="154697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불량률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9150" y="4267200"/>
            <a:ext cx="3365500" cy="1282700"/>
          </a:xfrm>
          <a:prstGeom prst="roundRect">
            <a:avLst>
              <a:gd name="adj" fmla="val 7426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1773535" y="4499620"/>
            <a:ext cx="145673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대상 선별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307186" y="4819650"/>
            <a:ext cx="238937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위험한 샷 상위 20%를 검사하면</a:t>
            </a:r>
            <a:endParaRPr lang="en-US" sz="1400" dirty="0"/>
          </a:p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불량의 42% 발견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413250" y="4267200"/>
            <a:ext cx="3365500" cy="1282700"/>
          </a:xfrm>
          <a:prstGeom prst="roundRect">
            <a:avLst>
              <a:gd name="adj" fmla="val 7426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5367635" y="4499620"/>
            <a:ext cx="145673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비용 절감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863474" y="4819650"/>
            <a:ext cx="246500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놓침 1건 = 헛경보 10건으로 보면</a:t>
            </a:r>
            <a:endParaRPr lang="en-US" sz="1400" dirty="0"/>
          </a:p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 검사보다 9% 저렴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001000" y="4267200"/>
            <a:ext cx="3365500" cy="1282700"/>
          </a:xfrm>
          <a:prstGeom prst="roundRect">
            <a:avLst>
              <a:gd name="adj" fmla="val 7426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8955385" y="4499620"/>
            <a:ext cx="145673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관리 후보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611312" y="4819650"/>
            <a:ext cx="214487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불량이 늘어나는 조건 구간을</a:t>
            </a:r>
            <a:endParaRPr lang="en-US" sz="1400" dirty="0"/>
          </a:p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생산으로 확인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54304" y="57023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맞히면 현장에서 달라지는 것</a:t>
            </a:r>
            <a:endParaRPr lang="en-US" sz="1600" dirty="0"/>
          </a:p>
        </p:txBody>
      </p:sp>
      <p:pic>
        <p:nvPicPr>
          <p:cNvPr id="28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29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데이터에서 찾은 것 4가지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412750" y="1225550"/>
            <a:ext cx="5575300" cy="208280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/>
          <p:nvPr/>
        </p:nvSpPr>
        <p:spPr>
          <a:xfrm>
            <a:off x="673100" y="1460500"/>
            <a:ext cx="520623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같은 조건이 반복되는 샷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73100" y="1935460"/>
            <a:ext cx="5206238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73100" y="2539950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확인: 공정 조건이 똑같은 샷 3,174개, 그중 97.8%는 불량 종류도 같음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73100" y="2842171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처리: 같은 조건끼리 한 묶음으로 검증(시험 데이터도 58%가 같은 구조)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03950" y="1225550"/>
            <a:ext cx="5575300" cy="208280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464300" y="1460500"/>
            <a:ext cx="520623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정상에 쏠린 데이터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64300" y="1935460"/>
            <a:ext cx="5206238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77.6%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464300" y="2539950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확인: 기타불량 76건, 얼룩 100건뿐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64300" y="2842171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처리: 드문 불량에 가중치, 정상만 맞혀도 높은 정확도 대신 불량별 건수로 평가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2750" y="3524250"/>
            <a:ext cx="5575300" cy="208280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673100" y="3759200"/>
            <a:ext cx="520623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제품 유형·시기별 불량 쏠림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3100" y="4234160"/>
            <a:ext cx="5206238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1.8~51%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673100" y="4838650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확인: 400샷 단위 불량률, shot 4208에서 제품 전환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73100" y="5140871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처리: 제품 유형별·시간순으로 따로 확인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03950" y="3524250"/>
            <a:ext cx="5575300" cy="208280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464300" y="3759200"/>
            <a:ext cx="520623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빈 값·이상 값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464300" y="4234160"/>
            <a:ext cx="5206238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90샷 + 15샷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6464300" y="4838650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확인: 공장 온도·습도가 빈 샷 90개, 이상 값 15개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64300" y="5140871"/>
            <a:ext cx="52062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처리: 앞뒤 30샷 중앙값으로 채우고 표시를 남김</a:t>
            </a:r>
            <a:endParaRPr lang="en-US" sz="1200" dirty="0"/>
          </a:p>
        </p:txBody>
      </p:sp>
      <p:pic>
        <p:nvPicPr>
          <p:cNvPr id="25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26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방법: 기준 모델에서 최종 모델까지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228725" y="1473200"/>
            <a:ext cx="19621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모델: 경보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286125" y="1473200"/>
            <a:ext cx="19621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모델: 정상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65100" y="2425700"/>
            <a:ext cx="1016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불량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1,182건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65100" y="4432300"/>
            <a:ext cx="1016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정상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4,092건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257300" y="1803400"/>
            <a:ext cx="1905000" cy="1803400"/>
          </a:xfrm>
          <a:prstGeom prst="roundRect">
            <a:avLst>
              <a:gd name="adj" fmla="val 8451"/>
            </a:avLst>
          </a:prstGeom>
          <a:solidFill>
            <a:srgbClr val="37A0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792967" y="2222550"/>
            <a:ext cx="833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포착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717834" y="2509540"/>
            <a:ext cx="98393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122건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751176" y="2974330"/>
            <a:ext cx="9171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불량의 10%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14700" y="1803400"/>
            <a:ext cx="1905000" cy="1803400"/>
          </a:xfrm>
          <a:prstGeom prst="roundRect">
            <a:avLst>
              <a:gd name="adj" fmla="val 8451"/>
            </a:avLst>
          </a:prstGeom>
          <a:solidFill>
            <a:srgbClr val="E04A0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3752255" y="2222550"/>
            <a:ext cx="102989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미탐지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07891" y="2509540"/>
            <a:ext cx="1318617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1,060건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808576" y="2974330"/>
            <a:ext cx="9171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불량의 90%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257300" y="3810000"/>
            <a:ext cx="1905000" cy="1803400"/>
          </a:xfrm>
          <a:prstGeom prst="roundRect">
            <a:avLst>
              <a:gd name="adj" fmla="val 8451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1915358" y="4229150"/>
            <a:ext cx="58888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32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헛경보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825709" y="4516140"/>
            <a:ext cx="76813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4A32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73건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801951" y="4980930"/>
            <a:ext cx="8156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A32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정상의 2%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314700" y="3810000"/>
            <a:ext cx="1905000" cy="1803400"/>
          </a:xfrm>
          <a:prstGeom prst="roundRect">
            <a:avLst>
              <a:gd name="adj" fmla="val 8451"/>
            </a:avLst>
          </a:prstGeom>
          <a:solidFill>
            <a:srgbClr val="D9DE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3850367" y="4229150"/>
            <a:ext cx="833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통과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607891" y="4516140"/>
            <a:ext cx="1318617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4,019건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808576" y="4980930"/>
            <a:ext cx="9171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정상의 98%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899150" y="1276350"/>
            <a:ext cx="5803900" cy="8255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6134100" y="1464320"/>
            <a:ext cx="10982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기준 모델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370046" y="1367830"/>
            <a:ext cx="10980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0.2517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6134100" y="1797050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기준선의 리더보드 점수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899150" y="2266950"/>
            <a:ext cx="5803900" cy="8255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/>
          <p:nvPr/>
        </p:nvSpPr>
        <p:spPr>
          <a:xfrm>
            <a:off x="6134100" y="2454920"/>
            <a:ext cx="14363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딥러닝(MLP)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10567868" y="2358430"/>
            <a:ext cx="90023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0.289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6134100" y="2787650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리더보드 구조로 검증한 점수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899150" y="3257550"/>
            <a:ext cx="5803900" cy="825500"/>
          </a:xfrm>
          <a:prstGeom prst="roundRect">
            <a:avLst>
              <a:gd name="adj" fmla="val 11538"/>
            </a:avLst>
          </a:prstGeom>
          <a:solidFill>
            <a:srgbClr val="E6F2FA"/>
          </a:solidFill>
          <a:ln w="12700">
            <a:solidFill>
              <a:srgbClr val="1676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/>
          <p:nvPr/>
        </p:nvSpPr>
        <p:spPr>
          <a:xfrm>
            <a:off x="6134100" y="3445520"/>
            <a:ext cx="103280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최종 1안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10370046" y="3349030"/>
            <a:ext cx="10980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0.5987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6134100" y="3778250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리더보드 실제 점수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5892800" y="4241800"/>
            <a:ext cx="5816600" cy="1600200"/>
          </a:xfrm>
          <a:prstGeom prst="roundRect">
            <a:avLst>
              <a:gd name="adj" fmla="val 6349"/>
            </a:avLst>
          </a:prstGeom>
          <a:solidFill>
            <a:srgbClr val="0B5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/>
          <p:nvPr/>
        </p:nvSpPr>
        <p:spPr>
          <a:xfrm>
            <a:off x="6121400" y="4530427"/>
            <a:ext cx="55201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D0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제출: 1안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6194044" y="4835227"/>
            <a:ext cx="5439918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F4F9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리더보드 실제 점수 0.5987</a:t>
            </a:r>
            <a:endParaRPr lang="en-US" sz="1300" dirty="0"/>
          </a:p>
          <a:p>
            <a:pPr marL="181356" indent="-1813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F4F9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조건에서 불량 1,182건 중 122건 포착</a:t>
            </a:r>
            <a:endParaRPr lang="en-US" sz="1300" dirty="0"/>
          </a:p>
          <a:p>
            <a:pPr marL="181356" indent="-1813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F4F9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4,092건 중 73건(2%) 헛경보</a:t>
            </a:r>
            <a:endParaRPr lang="en-US" sz="1300" dirty="0"/>
          </a:p>
        </p:txBody>
      </p:sp>
      <p:pic>
        <p:nvPicPr>
          <p:cNvPr id="40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41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413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학습곡선: 데이터를 더 모으면 좋아지는가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812800" y="1041400"/>
            <a:ext cx="575564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20% → 100%로 늘리면: 새로운 조건 +0.06 · 리더보드 구조 +0.08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819150" y="1365250"/>
            <a:ext cx="55753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530251" y="1511300"/>
            <a:ext cx="215900" cy="50800"/>
          </a:xfrm>
          <a:prstGeom prst="roundRect">
            <a:avLst>
              <a:gd name="adj" fmla="val 50000"/>
            </a:avLst>
          </a:prstGeom>
          <a:solidFill>
            <a:srgbClr val="8A92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1809651" y="1438920"/>
            <a:ext cx="72514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무작위 검증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712591" y="1511300"/>
            <a:ext cx="215900" cy="50800"/>
          </a:xfrm>
          <a:prstGeom prst="roundRect">
            <a:avLst>
              <a:gd name="adj" fmla="val 50000"/>
            </a:avLst>
          </a:prstGeom>
          <a:solidFill>
            <a:srgbClr val="1676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2991991" y="1438920"/>
            <a:ext cx="114245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리더보드 구조 가중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12245" y="1511300"/>
            <a:ext cx="215900" cy="50800"/>
          </a:xfrm>
          <a:prstGeom prst="roundRect">
            <a:avLst>
              <a:gd name="adj" fmla="val 50000"/>
            </a:avLst>
          </a:prstGeom>
          <a:solidFill>
            <a:srgbClr val="E04A0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591645" y="1438920"/>
            <a:ext cx="114245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조건만 검증</a:t>
            </a:r>
            <a:endParaRPr lang="en-US" sz="1100" dirty="0"/>
          </a:p>
        </p:txBody>
      </p:sp>
      <p:pic>
        <p:nvPicPr>
          <p:cNvPr id="13" name="Image 2" descr="학습곡선: 데이터 비율별 점수 변화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1803400"/>
            <a:ext cx="5588000" cy="309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661150" y="1225550"/>
            <a:ext cx="4705350" cy="11303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6896100" y="1337320"/>
            <a:ext cx="436251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조건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896100" y="1560810"/>
            <a:ext cx="436251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0.193 → 0.253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6896100" y="2012900"/>
            <a:ext cx="43625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60% 이후 더 오르지 않음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661150" y="2495550"/>
            <a:ext cx="4705350" cy="11303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6896100" y="2607320"/>
            <a:ext cx="436251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본 조건(리더보드 구조)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896100" y="2830810"/>
            <a:ext cx="436251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0.536 → 0.612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896100" y="3282900"/>
            <a:ext cx="43625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조건을 외워 상승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61150" y="3765550"/>
            <a:ext cx="4705350" cy="11303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6896100" y="3877320"/>
            <a:ext cx="436251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조건이 섞인 검증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896100" y="4100810"/>
            <a:ext cx="436251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0.268 → 0.565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896100" y="4552900"/>
            <a:ext cx="43625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조건이 학습에 들어와 크게 상승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12800" y="5080000"/>
            <a:ext cx="10566400" cy="666750"/>
          </a:xfrm>
          <a:prstGeom prst="roundRect">
            <a:avLst>
              <a:gd name="adj" fmla="val 15238"/>
            </a:avLst>
          </a:prstGeom>
          <a:solidFill>
            <a:srgbClr val="0B5A8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조건의 불량을 잡으려면 데이터 양보다 </a:t>
            </a:r>
            <a:r>
              <a:rPr lang="en-US" sz="1550" b="1" dirty="0">
                <a:solidFill>
                  <a:srgbClr val="FFF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측정 항목</a:t>
            </a:r>
            <a:r>
              <a:rPr lang="en-US" sz="1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우선</a:t>
            </a:r>
            <a:endParaRPr lang="en-US" sz="1550" dirty="0"/>
          </a:p>
        </p:txBody>
      </p:sp>
      <p:pic>
        <p:nvPicPr>
          <p:cNvPr id="27" name="Image 3" descr="POSCO"/>
          <p:cNvPicPr>
            <a:picLocks noChangeAspect="1"/>
          </p:cNvPicPr>
          <p:nvPr/>
        </p:nvPicPr>
        <p:blipFill>
          <a:blip r:embed="rId6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28" name="Image 4" descr="K-뉴딜아카데미"/>
          <p:cNvPicPr>
            <a:picLocks noChangeAspect="1"/>
          </p:cNvPicPr>
          <p:nvPr/>
        </p:nvPicPr>
        <p:blipFill>
          <a:blip r:embed="rId7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2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뭘 뭐로 착각했나: 놓친 불량 1,043건(</a:t>
            </a:r>
            <a:r>
              <a:rPr lang="en-US" b="1" dirty="0">
                <a:solidFill>
                  <a:srgbClr val="FFFFFF"/>
                </a:solidFill>
              </a:rPr>
              <a:t>90</a:t>
            </a: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%)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825500" y="1231900"/>
            <a:ext cx="5626100" cy="471170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25400">
            <a:solidFill>
              <a:srgbClr val="1676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/>
          <p:nvPr/>
        </p:nvSpPr>
        <p:spPr>
          <a:xfrm>
            <a:off x="911162" y="1407170"/>
            <a:ext cx="545477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말한 라벨 →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010394" y="3013670"/>
            <a:ext cx="2144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10394" y="3216870"/>
            <a:ext cx="2144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10394" y="3420070"/>
            <a:ext cx="2144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10394" y="3623270"/>
            <a:ext cx="2144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벨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03300" y="38264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106355" y="1719560"/>
            <a:ext cx="30849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26107" y="1719560"/>
            <a:ext cx="46273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미충전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00155" y="1719560"/>
            <a:ext cx="30849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기공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897055" y="1719560"/>
            <a:ext cx="30849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93955" y="1719560"/>
            <a:ext cx="30849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얼룩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90855" y="1719560"/>
            <a:ext cx="30849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변형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533514" y="1719560"/>
            <a:ext cx="61692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기타불량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606570" y="2068810"/>
            <a:ext cx="3365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981200" y="1953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0D346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4010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578100" y="1953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6FA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175000" y="1953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5FA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771900" y="1953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6FA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368800" y="1953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6FA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965700" y="1953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562600" y="1953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438335" y="2551410"/>
            <a:ext cx="5047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미충전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981200" y="2435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1A3F7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434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590800" y="2448520"/>
            <a:ext cx="533400" cy="419100"/>
          </a:xfrm>
          <a:prstGeom prst="roundRect">
            <a:avLst>
              <a:gd name="adj" fmla="val 9091"/>
            </a:avLst>
          </a:prstGeom>
          <a:solidFill>
            <a:srgbClr val="F1F6FB"/>
          </a:solidFill>
          <a:ln w="25400">
            <a:solidFill>
              <a:srgbClr val="E04A0F"/>
            </a:solidFill>
            <a:prstDash val="solid"/>
          </a:ln>
        </p:spPr>
        <p:txBody>
          <a:bodyPr wrap="square" lIns="1541" tIns="1541" rIns="1541" bIns="1541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3175000" y="2435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3F8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3771900" y="2435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6FA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368800" y="2435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1F6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965700" y="2435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6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562600" y="2435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1606570" y="3034010"/>
            <a:ext cx="3365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기공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981200" y="29184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26497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204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2578100" y="29184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EEF3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3187700" y="2931120"/>
            <a:ext cx="533400" cy="419100"/>
          </a:xfrm>
          <a:prstGeom prst="roundRect">
            <a:avLst>
              <a:gd name="adj" fmla="val 9091"/>
            </a:avLst>
          </a:prstGeom>
          <a:solidFill>
            <a:srgbClr val="E5EBF4"/>
          </a:solidFill>
          <a:ln w="25400">
            <a:solidFill>
              <a:srgbClr val="E04A0F"/>
            </a:solidFill>
            <a:prstDash val="solid"/>
          </a:ln>
        </p:spPr>
        <p:txBody>
          <a:bodyPr wrap="square" lIns="1541" tIns="1541" rIns="1541" bIns="1541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3771900" y="29184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4368800" y="29184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5F9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4965700" y="29184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5562600" y="29184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1606570" y="3516610"/>
            <a:ext cx="3365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1981200" y="34010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1A3F7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183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2578100" y="34010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6FA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3175000" y="34010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3784600" y="3413720"/>
            <a:ext cx="533400" cy="419100"/>
          </a:xfrm>
          <a:prstGeom prst="roundRect">
            <a:avLst>
              <a:gd name="adj" fmla="val 9091"/>
            </a:avLst>
          </a:prstGeom>
          <a:solidFill>
            <a:srgbClr val="E9EFF6"/>
          </a:solidFill>
          <a:ln w="25400">
            <a:solidFill>
              <a:srgbClr val="E04A0F"/>
            </a:solidFill>
            <a:prstDash val="solid"/>
          </a:ln>
        </p:spPr>
        <p:txBody>
          <a:bodyPr wrap="square" lIns="1541" tIns="1541" rIns="1541" bIns="1541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4368800" y="34010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4965700" y="34010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5F9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5562600" y="34010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1606570" y="3999210"/>
            <a:ext cx="3365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얼룩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1981200" y="38836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5C779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65</a:t>
            </a:r>
            <a:endParaRPr lang="en-US" sz="1300" dirty="0"/>
          </a:p>
        </p:txBody>
      </p:sp>
      <p:sp>
        <p:nvSpPr>
          <p:cNvPr id="53" name="Text 49"/>
          <p:cNvSpPr/>
          <p:nvPr/>
        </p:nvSpPr>
        <p:spPr>
          <a:xfrm>
            <a:off x="2578100" y="38836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0F5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3175000" y="38836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5F9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3771900" y="38836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2F7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Text 52"/>
          <p:cNvSpPr/>
          <p:nvPr/>
        </p:nvSpPr>
        <p:spPr>
          <a:xfrm>
            <a:off x="4381500" y="3896320"/>
            <a:ext cx="533400" cy="419100"/>
          </a:xfrm>
          <a:prstGeom prst="roundRect">
            <a:avLst>
              <a:gd name="adj" fmla="val 9091"/>
            </a:avLst>
          </a:prstGeom>
          <a:solidFill>
            <a:srgbClr val="B2C0D4"/>
          </a:solidFill>
          <a:ln w="25400">
            <a:solidFill>
              <a:srgbClr val="E04A0F"/>
            </a:solidFill>
            <a:prstDash val="solid"/>
          </a:ln>
        </p:spPr>
        <p:txBody>
          <a:bodyPr wrap="square" lIns="1541" tIns="1541" rIns="1541" bIns="1541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en-US" sz="1300" dirty="0"/>
          </a:p>
        </p:txBody>
      </p:sp>
      <p:sp>
        <p:nvSpPr>
          <p:cNvPr id="57" name="Text 53"/>
          <p:cNvSpPr/>
          <p:nvPr/>
        </p:nvSpPr>
        <p:spPr>
          <a:xfrm>
            <a:off x="4965700" y="38836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58" name="Text 54"/>
          <p:cNvSpPr/>
          <p:nvPr/>
        </p:nvSpPr>
        <p:spPr>
          <a:xfrm>
            <a:off x="5562600" y="38836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59" name="Text 55"/>
          <p:cNvSpPr/>
          <p:nvPr/>
        </p:nvSpPr>
        <p:spPr>
          <a:xfrm>
            <a:off x="1606570" y="4481810"/>
            <a:ext cx="3365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변형</a:t>
            </a:r>
            <a:endParaRPr lang="en-US" sz="1200" dirty="0"/>
          </a:p>
        </p:txBody>
      </p:sp>
      <p:sp>
        <p:nvSpPr>
          <p:cNvPr id="60" name="Text 56"/>
          <p:cNvSpPr/>
          <p:nvPr/>
        </p:nvSpPr>
        <p:spPr>
          <a:xfrm>
            <a:off x="1981200" y="4366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3A5A8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</a:t>
            </a:r>
            <a:endParaRPr lang="en-US" sz="1300" dirty="0"/>
          </a:p>
        </p:txBody>
      </p:sp>
      <p:sp>
        <p:nvSpPr>
          <p:cNvPr id="61" name="Text 57"/>
          <p:cNvSpPr/>
          <p:nvPr/>
        </p:nvSpPr>
        <p:spPr>
          <a:xfrm>
            <a:off x="2578100" y="4366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3175000" y="4366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63" name="Text 59"/>
          <p:cNvSpPr/>
          <p:nvPr/>
        </p:nvSpPr>
        <p:spPr>
          <a:xfrm>
            <a:off x="3771900" y="4366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64" name="Text 60"/>
          <p:cNvSpPr/>
          <p:nvPr/>
        </p:nvSpPr>
        <p:spPr>
          <a:xfrm>
            <a:off x="4368800" y="4366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65" name="Text 61"/>
          <p:cNvSpPr/>
          <p:nvPr/>
        </p:nvSpPr>
        <p:spPr>
          <a:xfrm>
            <a:off x="4978400" y="4378920"/>
            <a:ext cx="533400" cy="419100"/>
          </a:xfrm>
          <a:prstGeom prst="roundRect">
            <a:avLst>
              <a:gd name="adj" fmla="val 9091"/>
            </a:avLst>
          </a:prstGeom>
          <a:solidFill>
            <a:srgbClr val="C8D3E2"/>
          </a:solidFill>
          <a:ln w="25400">
            <a:solidFill>
              <a:srgbClr val="E04A0F"/>
            </a:solidFill>
            <a:prstDash val="solid"/>
          </a:ln>
        </p:spPr>
        <p:txBody>
          <a:bodyPr wrap="square" lIns="1541" tIns="1541" rIns="1541" bIns="1541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1300" dirty="0"/>
          </a:p>
        </p:txBody>
      </p:sp>
      <p:sp>
        <p:nvSpPr>
          <p:cNvPr id="66" name="Text 62"/>
          <p:cNvSpPr/>
          <p:nvPr/>
        </p:nvSpPr>
        <p:spPr>
          <a:xfrm>
            <a:off x="5562600" y="43662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5F9F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Text 63"/>
          <p:cNvSpPr/>
          <p:nvPr/>
        </p:nvSpPr>
        <p:spPr>
          <a:xfrm>
            <a:off x="1270099" y="4964410"/>
            <a:ext cx="673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기타불량</a:t>
            </a:r>
            <a:endParaRPr lang="en-US" sz="1200" dirty="0"/>
          </a:p>
        </p:txBody>
      </p:sp>
      <p:sp>
        <p:nvSpPr>
          <p:cNvPr id="68" name="Text 64"/>
          <p:cNvSpPr/>
          <p:nvPr/>
        </p:nvSpPr>
        <p:spPr>
          <a:xfrm>
            <a:off x="1981200" y="4848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11387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73</a:t>
            </a:r>
            <a:endParaRPr lang="en-US" sz="1300" dirty="0"/>
          </a:p>
        </p:txBody>
      </p:sp>
      <p:sp>
        <p:nvSpPr>
          <p:cNvPr id="69" name="Text 65"/>
          <p:cNvSpPr/>
          <p:nvPr/>
        </p:nvSpPr>
        <p:spPr>
          <a:xfrm>
            <a:off x="2578100" y="4848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70" name="Text 66"/>
          <p:cNvSpPr/>
          <p:nvPr/>
        </p:nvSpPr>
        <p:spPr>
          <a:xfrm>
            <a:off x="3175000" y="4848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Text 67"/>
          <p:cNvSpPr/>
          <p:nvPr/>
        </p:nvSpPr>
        <p:spPr>
          <a:xfrm>
            <a:off x="3771900" y="4848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72" name="Text 68"/>
          <p:cNvSpPr/>
          <p:nvPr/>
        </p:nvSpPr>
        <p:spPr>
          <a:xfrm>
            <a:off x="4368800" y="4848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73" name="Text 69"/>
          <p:cNvSpPr/>
          <p:nvPr/>
        </p:nvSpPr>
        <p:spPr>
          <a:xfrm>
            <a:off x="4965700" y="4848820"/>
            <a:ext cx="558800" cy="444500"/>
          </a:xfrm>
          <a:prstGeom prst="roundRect">
            <a:avLst>
              <a:gd name="adj" fmla="val 11429"/>
            </a:avLst>
          </a:prstGeom>
          <a:solidFill>
            <a:srgbClr val="EEF3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74" name="Text 70"/>
          <p:cNvSpPr/>
          <p:nvPr/>
        </p:nvSpPr>
        <p:spPr>
          <a:xfrm>
            <a:off x="5575300" y="4861520"/>
            <a:ext cx="533400" cy="419100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25400">
            <a:solidFill>
              <a:srgbClr val="E04A0F"/>
            </a:solidFill>
            <a:prstDash val="solid"/>
          </a:ln>
        </p:spPr>
        <p:txBody>
          <a:bodyPr wrap="square" lIns="1541" tIns="1541" rIns="1541" bIns="1541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75" name="Shape 71"/>
          <p:cNvSpPr/>
          <p:nvPr/>
        </p:nvSpPr>
        <p:spPr>
          <a:xfrm>
            <a:off x="2546350" y="5403800"/>
            <a:ext cx="152400" cy="101600"/>
          </a:xfrm>
          <a:prstGeom prst="roundRect">
            <a:avLst>
              <a:gd name="adj" fmla="val 12500"/>
            </a:avLst>
          </a:prstGeom>
          <a:noFill/>
          <a:ln w="25400">
            <a:solidFill>
              <a:srgbClr val="E04A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2"/>
          <p:cNvSpPr/>
          <p:nvPr/>
        </p:nvSpPr>
        <p:spPr>
          <a:xfrm>
            <a:off x="2787650" y="5356820"/>
            <a:ext cx="23469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불량을 같은 종류로 맞힌 건수</a:t>
            </a:r>
            <a:endParaRPr lang="en-US" sz="1100" dirty="0"/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0D195FB-952B-8EFD-F60F-04346157479D}"/>
              </a:ext>
            </a:extLst>
          </p:cNvPr>
          <p:cNvGrpSpPr/>
          <p:nvPr/>
        </p:nvGrpSpPr>
        <p:grpSpPr>
          <a:xfrm>
            <a:off x="6718300" y="1219200"/>
            <a:ext cx="4660900" cy="812800"/>
            <a:chOff x="6718300" y="1219200"/>
            <a:chExt cx="4660900" cy="812800"/>
          </a:xfrm>
        </p:grpSpPr>
        <p:sp>
          <p:nvSpPr>
            <p:cNvPr id="77" name="Shape 73"/>
            <p:cNvSpPr/>
            <p:nvPr/>
          </p:nvSpPr>
          <p:spPr>
            <a:xfrm>
              <a:off x="6718300" y="1219200"/>
              <a:ext cx="4660900" cy="812800"/>
            </a:xfrm>
            <a:prstGeom prst="roundRect">
              <a:avLst>
                <a:gd name="adj" fmla="val 12500"/>
              </a:avLst>
            </a:prstGeom>
            <a:solidFill>
              <a:srgbClr val="0D446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Shape 74"/>
            <p:cNvSpPr/>
            <p:nvPr/>
          </p:nvSpPr>
          <p:spPr>
            <a:xfrm>
              <a:off x="6718300" y="1219200"/>
              <a:ext cx="4660900" cy="812800"/>
            </a:xfrm>
            <a:custGeom>
              <a:avLst/>
              <a:gdLst/>
              <a:ahLst/>
              <a:cxnLst/>
              <a:rect l="l" t="t" r="r" b="b"/>
              <a:pathLst>
                <a:path w="4660900" h="812800">
                  <a:moveTo>
                    <a:pt x="101600" y="812800"/>
                  </a:moveTo>
                  <a:lnTo>
                    <a:pt x="101600" y="812800"/>
                  </a:lnTo>
                  <a:arcTo wR="101600" hR="101600" stAng="5400000" swAng="5400000"/>
                  <a:lnTo>
                    <a:pt x="0" y="101600"/>
                  </a:lnTo>
                  <a:arcTo wR="101600" hR="101600" stAng="10800000" swAng="5400000"/>
                  <a:lnTo>
                    <a:pt x="101600" y="0"/>
                  </a:lnTo>
                  <a:arcTo wR="50800" hR="101600" stAng="16200000" swAng="-5400000"/>
                  <a:lnTo>
                    <a:pt x="50800" y="711200"/>
                  </a:lnTo>
                  <a:arcTo wR="50800" hR="101600" stAng="10800000" swAng="-5400000"/>
                  <a:close/>
                </a:path>
              </a:pathLst>
            </a:custGeom>
            <a:solidFill>
              <a:srgbClr val="E04A0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75"/>
            <p:cNvSpPr/>
            <p:nvPr/>
          </p:nvSpPr>
          <p:spPr>
            <a:xfrm>
              <a:off x="6946900" y="1447800"/>
              <a:ext cx="355600" cy="355600"/>
            </a:xfrm>
            <a:prstGeom prst="roundRect">
              <a:avLst>
                <a:gd name="adj" fmla="val 50000"/>
              </a:avLst>
            </a:prstGeom>
            <a:solidFill>
              <a:srgbClr val="E04A0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6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0" name="Text 76"/>
            <p:cNvSpPr/>
            <p:nvPr/>
          </p:nvSpPr>
          <p:spPr>
            <a:xfrm>
              <a:off x="7454900" y="1500079"/>
              <a:ext cx="3858895" cy="5231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불량 1,182건 중 </a:t>
              </a:r>
              <a:r>
                <a:rPr lang="en-US" altLang="ko-KR" sz="1400" b="1" dirty="0">
                  <a:solidFill>
                    <a:srgbClr val="FFB4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90%</a:t>
              </a:r>
              <a:r>
                <a:rPr lang="ko-KR" alt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를</a:t>
              </a:r>
              <a:r>
                <a:rPr lang="ko-KR" altLang="en-US" sz="1400" b="1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dirty="0" err="1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정상으로</a:t>
              </a: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놓침</a:t>
              </a:r>
              <a:endParaRPr lang="en-US" sz="1400" dirty="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1BE9172-513B-4585-9DE5-2BFC910AD143}"/>
              </a:ext>
            </a:extLst>
          </p:cNvPr>
          <p:cNvGrpSpPr/>
          <p:nvPr/>
        </p:nvGrpSpPr>
        <p:grpSpPr>
          <a:xfrm>
            <a:off x="6718300" y="2191656"/>
            <a:ext cx="4660900" cy="812800"/>
            <a:chOff x="6718300" y="2146300"/>
            <a:chExt cx="4660900" cy="812800"/>
          </a:xfrm>
        </p:grpSpPr>
        <p:sp>
          <p:nvSpPr>
            <p:cNvPr id="81" name="Shape 77"/>
            <p:cNvSpPr/>
            <p:nvPr/>
          </p:nvSpPr>
          <p:spPr>
            <a:xfrm>
              <a:off x="6718300" y="2146300"/>
              <a:ext cx="4660900" cy="812800"/>
            </a:xfrm>
            <a:prstGeom prst="roundRect">
              <a:avLst>
                <a:gd name="adj" fmla="val 12500"/>
              </a:avLst>
            </a:prstGeom>
            <a:solidFill>
              <a:srgbClr val="0D446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Shape 78"/>
            <p:cNvSpPr/>
            <p:nvPr/>
          </p:nvSpPr>
          <p:spPr>
            <a:xfrm>
              <a:off x="6718300" y="2146300"/>
              <a:ext cx="4660900" cy="812800"/>
            </a:xfrm>
            <a:custGeom>
              <a:avLst/>
              <a:gdLst/>
              <a:ahLst/>
              <a:cxnLst/>
              <a:rect l="l" t="t" r="r" b="b"/>
              <a:pathLst>
                <a:path w="4660900" h="812800">
                  <a:moveTo>
                    <a:pt x="101600" y="812800"/>
                  </a:moveTo>
                  <a:lnTo>
                    <a:pt x="101600" y="812800"/>
                  </a:lnTo>
                  <a:arcTo wR="101600" hR="101600" stAng="5400000" swAng="5400000"/>
                  <a:lnTo>
                    <a:pt x="0" y="101600"/>
                  </a:lnTo>
                  <a:arcTo wR="101600" hR="101600" stAng="10800000" swAng="5400000"/>
                  <a:lnTo>
                    <a:pt x="101600" y="0"/>
                  </a:lnTo>
                  <a:arcTo wR="50800" hR="101600" stAng="16200000" swAng="-5400000"/>
                  <a:lnTo>
                    <a:pt x="50800" y="711200"/>
                  </a:lnTo>
                  <a:arcTo wR="50800" hR="101600" stAng="10800000" swAng="-5400000"/>
                  <a:close/>
                </a:path>
              </a:pathLst>
            </a:custGeom>
            <a:solidFill>
              <a:srgbClr val="8FD0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 79"/>
            <p:cNvSpPr/>
            <p:nvPr/>
          </p:nvSpPr>
          <p:spPr>
            <a:xfrm>
              <a:off x="6946900" y="2374900"/>
              <a:ext cx="355600" cy="355600"/>
            </a:xfrm>
            <a:prstGeom prst="roundRect">
              <a:avLst>
                <a:gd name="adj" fmla="val 50000"/>
              </a:avLst>
            </a:prstGeom>
            <a:solidFill>
              <a:srgbClr val="1676B2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6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84" name="Text 80"/>
            <p:cNvSpPr/>
            <p:nvPr/>
          </p:nvSpPr>
          <p:spPr>
            <a:xfrm>
              <a:off x="7454900" y="2428230"/>
              <a:ext cx="3858895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미충전 469건 중 </a:t>
              </a:r>
              <a:r>
                <a:rPr lang="en-US" sz="1400" b="1" dirty="0">
                  <a:solidFill>
                    <a:srgbClr val="8FD0F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434건</a:t>
              </a: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을 놓치고 12건만 맞힘</a:t>
              </a:r>
              <a:endParaRPr lang="en-US" sz="1400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55BFCAC8-ABA5-8A5E-B2F1-B5B174FA37D2}"/>
              </a:ext>
            </a:extLst>
          </p:cNvPr>
          <p:cNvGrpSpPr/>
          <p:nvPr/>
        </p:nvGrpSpPr>
        <p:grpSpPr>
          <a:xfrm>
            <a:off x="6718300" y="3164112"/>
            <a:ext cx="4660900" cy="812800"/>
            <a:chOff x="6718300" y="3073400"/>
            <a:chExt cx="4660900" cy="812800"/>
          </a:xfrm>
        </p:grpSpPr>
        <p:sp>
          <p:nvSpPr>
            <p:cNvPr id="85" name="Shape 81"/>
            <p:cNvSpPr/>
            <p:nvPr/>
          </p:nvSpPr>
          <p:spPr>
            <a:xfrm>
              <a:off x="6718300" y="3073400"/>
              <a:ext cx="4660900" cy="812800"/>
            </a:xfrm>
            <a:prstGeom prst="roundRect">
              <a:avLst>
                <a:gd name="adj" fmla="val 12500"/>
              </a:avLst>
            </a:prstGeom>
            <a:solidFill>
              <a:srgbClr val="0D446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Shape 82"/>
            <p:cNvSpPr/>
            <p:nvPr/>
          </p:nvSpPr>
          <p:spPr>
            <a:xfrm>
              <a:off x="6718300" y="3073400"/>
              <a:ext cx="4660900" cy="812800"/>
            </a:xfrm>
            <a:custGeom>
              <a:avLst/>
              <a:gdLst/>
              <a:ahLst/>
              <a:cxnLst/>
              <a:rect l="l" t="t" r="r" b="b"/>
              <a:pathLst>
                <a:path w="4660900" h="812800">
                  <a:moveTo>
                    <a:pt x="101600" y="812800"/>
                  </a:moveTo>
                  <a:lnTo>
                    <a:pt x="101600" y="812800"/>
                  </a:lnTo>
                  <a:arcTo wR="101600" hR="101600" stAng="5400000" swAng="5400000"/>
                  <a:lnTo>
                    <a:pt x="0" y="101600"/>
                  </a:lnTo>
                  <a:arcTo wR="101600" hR="101600" stAng="10800000" swAng="5400000"/>
                  <a:lnTo>
                    <a:pt x="101600" y="0"/>
                  </a:lnTo>
                  <a:arcTo wR="50800" hR="101600" stAng="16200000" swAng="-5400000"/>
                  <a:lnTo>
                    <a:pt x="50800" y="711200"/>
                  </a:lnTo>
                  <a:arcTo wR="50800" hR="101600" stAng="10800000" swAng="-5400000"/>
                  <a:close/>
                </a:path>
              </a:pathLst>
            </a:custGeom>
            <a:solidFill>
              <a:srgbClr val="8FD0F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Text 83"/>
            <p:cNvSpPr/>
            <p:nvPr/>
          </p:nvSpPr>
          <p:spPr>
            <a:xfrm>
              <a:off x="6946900" y="3302000"/>
              <a:ext cx="355600" cy="355600"/>
            </a:xfrm>
            <a:prstGeom prst="roundRect">
              <a:avLst>
                <a:gd name="adj" fmla="val 50000"/>
              </a:avLst>
            </a:prstGeom>
            <a:solidFill>
              <a:srgbClr val="1676B2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6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88" name="Text 84"/>
            <p:cNvSpPr/>
            <p:nvPr/>
          </p:nvSpPr>
          <p:spPr>
            <a:xfrm>
              <a:off x="7454900" y="3355330"/>
              <a:ext cx="392430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미충전을 기공으로 착각한 게 </a:t>
              </a:r>
              <a:r>
                <a:rPr lang="en-US" sz="1400" b="1" dirty="0">
                  <a:solidFill>
                    <a:srgbClr val="8FD0F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8건</a:t>
              </a: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둘은 조치가 다름</a:t>
              </a:r>
              <a:endParaRPr lang="en-US" sz="1400" dirty="0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1460C0F2-E27E-7921-C87E-77FEF592EE4B}"/>
              </a:ext>
            </a:extLst>
          </p:cNvPr>
          <p:cNvGrpSpPr/>
          <p:nvPr/>
        </p:nvGrpSpPr>
        <p:grpSpPr>
          <a:xfrm>
            <a:off x="6718300" y="4136568"/>
            <a:ext cx="4660900" cy="812800"/>
            <a:chOff x="6718300" y="4000500"/>
            <a:chExt cx="4660900" cy="812800"/>
          </a:xfrm>
        </p:grpSpPr>
        <p:sp>
          <p:nvSpPr>
            <p:cNvPr id="89" name="Shape 85"/>
            <p:cNvSpPr/>
            <p:nvPr/>
          </p:nvSpPr>
          <p:spPr>
            <a:xfrm>
              <a:off x="6718300" y="4000500"/>
              <a:ext cx="4660900" cy="812800"/>
            </a:xfrm>
            <a:prstGeom prst="roundRect">
              <a:avLst>
                <a:gd name="adj" fmla="val 12500"/>
              </a:avLst>
            </a:prstGeom>
            <a:solidFill>
              <a:srgbClr val="0D446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Shape 86"/>
            <p:cNvSpPr/>
            <p:nvPr/>
          </p:nvSpPr>
          <p:spPr>
            <a:xfrm>
              <a:off x="6718300" y="4000500"/>
              <a:ext cx="4660900" cy="812800"/>
            </a:xfrm>
            <a:custGeom>
              <a:avLst/>
              <a:gdLst/>
              <a:ahLst/>
              <a:cxnLst/>
              <a:rect l="l" t="t" r="r" b="b"/>
              <a:pathLst>
                <a:path w="4660900" h="812800">
                  <a:moveTo>
                    <a:pt x="101600" y="812800"/>
                  </a:moveTo>
                  <a:lnTo>
                    <a:pt x="101600" y="812800"/>
                  </a:lnTo>
                  <a:arcTo wR="101600" hR="101600" stAng="5400000" swAng="5400000"/>
                  <a:lnTo>
                    <a:pt x="0" y="101600"/>
                  </a:lnTo>
                  <a:arcTo wR="101600" hR="101600" stAng="10800000" swAng="5400000"/>
                  <a:lnTo>
                    <a:pt x="101600" y="0"/>
                  </a:lnTo>
                  <a:arcTo wR="50800" hR="101600" stAng="16200000" swAng="-5400000"/>
                  <a:lnTo>
                    <a:pt x="50800" y="711200"/>
                  </a:lnTo>
                  <a:arcTo wR="50800" hR="101600" stAng="10800000" swAng="-5400000"/>
                  <a:close/>
                </a:path>
              </a:pathLst>
            </a:custGeom>
            <a:solidFill>
              <a:srgbClr val="E8A3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 87"/>
            <p:cNvSpPr/>
            <p:nvPr/>
          </p:nvSpPr>
          <p:spPr>
            <a:xfrm>
              <a:off x="6946900" y="4229100"/>
              <a:ext cx="355600" cy="355600"/>
            </a:xfrm>
            <a:prstGeom prst="roundRect">
              <a:avLst>
                <a:gd name="adj" fmla="val 50000"/>
              </a:avLst>
            </a:prstGeom>
            <a:solidFill>
              <a:srgbClr val="E8A33D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60"/>
                </a:lnSpc>
                <a:buNone/>
              </a:pPr>
              <a:r>
                <a:rPr lang="en-US" sz="1400" b="1" dirty="0">
                  <a:solidFill>
                    <a:srgbClr val="4A32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92" name="Text 88"/>
            <p:cNvSpPr/>
            <p:nvPr/>
          </p:nvSpPr>
          <p:spPr>
            <a:xfrm>
              <a:off x="7454900" y="4282430"/>
              <a:ext cx="3858895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정상 4,092건 중 </a:t>
              </a:r>
              <a:r>
                <a:rPr lang="en-US" sz="1400" b="1" dirty="0">
                  <a:solidFill>
                    <a:srgbClr val="FFD0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2%</a:t>
              </a:r>
              <a:r>
                <a:rPr lang="ko-KR" alt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를</a:t>
              </a: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불량으로 경보</a:t>
              </a:r>
              <a:endParaRPr lang="en-US" sz="14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56D3B84-8C12-87E5-8247-6E05C2DD0A5D}"/>
              </a:ext>
            </a:extLst>
          </p:cNvPr>
          <p:cNvGrpSpPr/>
          <p:nvPr/>
        </p:nvGrpSpPr>
        <p:grpSpPr>
          <a:xfrm>
            <a:off x="6718300" y="5109025"/>
            <a:ext cx="4660900" cy="812800"/>
            <a:chOff x="6718300" y="5109025"/>
            <a:chExt cx="4660900" cy="812800"/>
          </a:xfrm>
        </p:grpSpPr>
        <p:sp>
          <p:nvSpPr>
            <p:cNvPr id="93" name="Shape 89"/>
            <p:cNvSpPr/>
            <p:nvPr/>
          </p:nvSpPr>
          <p:spPr>
            <a:xfrm>
              <a:off x="6718300" y="5109025"/>
              <a:ext cx="4660900" cy="812800"/>
            </a:xfrm>
            <a:prstGeom prst="roundRect">
              <a:avLst>
                <a:gd name="adj" fmla="val 12500"/>
              </a:avLst>
            </a:prstGeom>
            <a:solidFill>
              <a:srgbClr val="0D446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Shape 90"/>
            <p:cNvSpPr/>
            <p:nvPr/>
          </p:nvSpPr>
          <p:spPr>
            <a:xfrm>
              <a:off x="6718300" y="5109025"/>
              <a:ext cx="4660900" cy="812800"/>
            </a:xfrm>
            <a:custGeom>
              <a:avLst/>
              <a:gdLst/>
              <a:ahLst/>
              <a:cxnLst/>
              <a:rect l="l" t="t" r="r" b="b"/>
              <a:pathLst>
                <a:path w="4660900" h="812800">
                  <a:moveTo>
                    <a:pt x="101600" y="812800"/>
                  </a:moveTo>
                  <a:lnTo>
                    <a:pt x="101600" y="812800"/>
                  </a:lnTo>
                  <a:arcTo wR="101600" hR="101600" stAng="5400000" swAng="5400000"/>
                  <a:lnTo>
                    <a:pt x="0" y="101600"/>
                  </a:lnTo>
                  <a:arcTo wR="101600" hR="101600" stAng="10800000" swAng="5400000"/>
                  <a:lnTo>
                    <a:pt x="101600" y="0"/>
                  </a:lnTo>
                  <a:arcTo wR="50800" hR="101600" stAng="16200000" swAng="-5400000"/>
                  <a:lnTo>
                    <a:pt x="50800" y="711200"/>
                  </a:lnTo>
                  <a:arcTo wR="50800" hR="101600" stAng="10800000" swAng="-5400000"/>
                  <a:close/>
                </a:path>
              </a:pathLst>
            </a:custGeom>
            <a:solidFill>
              <a:srgbClr val="37A05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Text 91"/>
            <p:cNvSpPr/>
            <p:nvPr/>
          </p:nvSpPr>
          <p:spPr>
            <a:xfrm>
              <a:off x="6946900" y="5337625"/>
              <a:ext cx="355600" cy="355600"/>
            </a:xfrm>
            <a:prstGeom prst="roundRect">
              <a:avLst>
                <a:gd name="adj" fmla="val 50000"/>
              </a:avLst>
            </a:prstGeom>
            <a:solidFill>
              <a:srgbClr val="37A05C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196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96" name="Text 92"/>
            <p:cNvSpPr/>
            <p:nvPr/>
          </p:nvSpPr>
          <p:spPr>
            <a:xfrm>
              <a:off x="7454900" y="5266535"/>
              <a:ext cx="3858895" cy="5231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그나마 맞히는 종류</a:t>
              </a:r>
              <a:endParaRPr lang="en-US" sz="1400" dirty="0"/>
            </a:p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얼룩 100건 중 </a:t>
              </a:r>
              <a:r>
                <a:rPr lang="en-US" sz="1400" b="1" dirty="0">
                  <a:solidFill>
                    <a:srgbClr val="8FE0A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29건</a:t>
              </a:r>
              <a:r>
                <a:rPr lang="en-US" sz="1400" dirty="0">
                  <a:solidFill>
                    <a:srgbClr val="F4F9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변형 106건 중 </a:t>
              </a:r>
              <a:r>
                <a:rPr lang="en-US" sz="1400" b="1" dirty="0">
                  <a:solidFill>
                    <a:srgbClr val="8FE0A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21건</a:t>
              </a:r>
              <a:endParaRPr lang="en-US" sz="1400" dirty="0"/>
            </a:p>
          </p:txBody>
        </p:sp>
      </p:grpSp>
      <p:pic>
        <p:nvPicPr>
          <p:cNvPr id="97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98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  <p:sp>
        <p:nvSpPr>
          <p:cNvPr id="99" name="Text 72">
            <a:extLst>
              <a:ext uri="{FF2B5EF4-FFF2-40B4-BE49-F238E27FC236}">
                <a16:creationId xmlns:a16="http://schemas.microsoft.com/office/drawing/2014/main" id="{34918C85-2819-0072-FD9D-F43062661850}"/>
              </a:ext>
            </a:extLst>
          </p:cNvPr>
          <p:cNvSpPr/>
          <p:nvPr/>
        </p:nvSpPr>
        <p:spPr>
          <a:xfrm>
            <a:off x="4201917" y="5658566"/>
            <a:ext cx="23469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</a:rPr>
              <a:t>*</a:t>
            </a:r>
            <a:r>
              <a:rPr lang="ko-KR" altLang="en-US" sz="1100" dirty="0" err="1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</a:rPr>
              <a:t>시드</a:t>
            </a:r>
            <a:r>
              <a:rPr lang="ko-KR" altLang="en-US" sz="11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</a:rPr>
              <a:t>4</a:t>
            </a:r>
            <a:r>
              <a:rPr lang="ko-KR" altLang="en-US" sz="11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</a:rPr>
              <a:t>개 평균이라 </a:t>
            </a:r>
            <a:r>
              <a:rPr lang="en-US" altLang="ko-KR" sz="11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</a:rPr>
              <a:t>4</a:t>
            </a:r>
            <a:r>
              <a:rPr lang="ko-KR" altLang="en-US" sz="11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</a:rPr>
              <a:t>쪽과 몇 건 다름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중요도: 모델이 보는 공정 조건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819150" y="1581150"/>
            <a:ext cx="338455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/>
          <p:nvPr/>
        </p:nvSpPr>
        <p:spPr>
          <a:xfrm>
            <a:off x="1054100" y="1765300"/>
            <a:ext cx="300209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미충전(Short_Shot)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4100" y="2062460"/>
            <a:ext cx="30020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구분 점수(0.5 찍기 ~ 1.0 완벽)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4100" y="2390080"/>
            <a:ext cx="300209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0.75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126744" y="3145730"/>
            <a:ext cx="307879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High_Velocity(제품 유형 2)</a:t>
            </a:r>
            <a:endParaRPr lang="en-US" sz="1300" dirty="0"/>
          </a:p>
          <a:p>
            <a:pPr marL="181356" indent="-1813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Melting_Furnace_Temp(제품 유형 1)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00550" y="1581150"/>
            <a:ext cx="338455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635500" y="1765300"/>
            <a:ext cx="300209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기공(Blow_Hole)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35500" y="2062460"/>
            <a:ext cx="30020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구분 점수(0.5 찍기 ~ 1.0 완벽)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35500" y="2390080"/>
            <a:ext cx="300209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708144" y="3145730"/>
            <a:ext cx="292182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High_Velocity</a:t>
            </a:r>
            <a:endParaRPr lang="en-US" sz="1300" dirty="0"/>
          </a:p>
          <a:p>
            <a:pPr marL="181356" indent="-1813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Coolant_Temp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81950" y="1581150"/>
            <a:ext cx="338455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8216900" y="1765300"/>
            <a:ext cx="300209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박리(Exfoliation)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216900" y="2062460"/>
            <a:ext cx="30020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구분 점수(0.5 찍기 ~ 1.0 완벽)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16900" y="2390080"/>
            <a:ext cx="300209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0.83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8289544" y="3145730"/>
            <a:ext cx="29218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Spray_Time(제품 유형 1)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2800" y="4102100"/>
            <a:ext cx="10566400" cy="1270000"/>
          </a:xfrm>
          <a:prstGeom prst="roundRect">
            <a:avLst>
              <a:gd name="adj" fmla="val 8000"/>
            </a:avLst>
          </a:prstGeom>
          <a:solidFill>
            <a:srgbClr val="0B5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1092200" y="440690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9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앞뒤 샷의 공정 조건 40개를 함께 보면 점수가 유일하게 일관되게 상승(+0.0045)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092200" y="480060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9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 온도·습도, 냉각수 온도는 시기에 따라 같이 변하는 값일 가능성이 커 원인으로 보지 않음</a:t>
            </a:r>
            <a:endParaRPr lang="en-US" sz="1500" dirty="0"/>
          </a:p>
        </p:txBody>
      </p:sp>
      <p:pic>
        <p:nvPicPr>
          <p:cNvPr id="23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24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기준 비용표(하루 3,800샷)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" y="1600200"/>
          <a:ext cx="10540999" cy="3405780"/>
        </p:xfrm>
        <a:graphic>
          <a:graphicData uri="http://schemas.openxmlformats.org/drawingml/2006/table">
            <a:tbl>
              <a:tblPr/>
              <a:tblGrid>
                <a:gridCol w="2342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35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41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경보 기준(정상 확률 배율)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검사 대상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놓침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헛경보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총비용 5:1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총비용 10:1(기준)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총비용 20:1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검사 안 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852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4,258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8,516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17,033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4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×1.0 (제출 기준)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759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3,856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7,650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15,239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×0.5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591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565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3,132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5,959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11,613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×0.3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1,179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699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2,556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4,413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8,127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×0.2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1,720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1,117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2,359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3,601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6,085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×0.1 (운영안)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2,575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1,810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2,244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2,677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3,543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×0.05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3,032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2,212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2,368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2,523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2,835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B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전수 검사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3,800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A2F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2,948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2,948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2,948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5A8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2,948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812800" y="5067300"/>
            <a:ext cx="10566400" cy="793750"/>
          </a:xfrm>
          <a:prstGeom prst="roundRect">
            <a:avLst>
              <a:gd name="adj" fmla="val 12800"/>
            </a:avLst>
          </a:prstGeom>
          <a:solidFill>
            <a:srgbClr val="E6F2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812800" y="5067300"/>
            <a:ext cx="10566400" cy="793750"/>
          </a:xfrm>
          <a:custGeom>
            <a:avLst/>
            <a:gdLst/>
            <a:ahLst/>
            <a:cxnLst/>
            <a:rect l="l" t="t" r="r" b="b"/>
            <a:pathLst>
              <a:path w="10566400" h="793750">
                <a:moveTo>
                  <a:pt x="101600" y="793750"/>
                </a:moveTo>
                <a:lnTo>
                  <a:pt x="101600" y="79375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38100" hR="101600" stAng="16200000" swAng="-5400000"/>
                <a:lnTo>
                  <a:pt x="63500" y="692150"/>
                </a:lnTo>
                <a:arcTo wR="38100" hR="101600" stAng="10800000" swAng="-5400000"/>
                <a:close/>
              </a:path>
            </a:pathLst>
          </a:custGeom>
          <a:solidFill>
            <a:srgbClr val="1676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/>
          <p:cNvSpPr/>
          <p:nvPr/>
        </p:nvSpPr>
        <p:spPr>
          <a:xfrm>
            <a:off x="1079500" y="5194300"/>
            <a:ext cx="103993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총비용은 헛경보 1건 = 1로 환산, 놓침 1건 = 5·10·20건으로 가정(하루 3,800샷은 사이클 22.6초, 24시간 가동 가정)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79500" y="5486400"/>
            <a:ext cx="1039939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운영안(정상 ×0.1)은 10:1에서 전수 검사보다 </a:t>
            </a:r>
            <a:r>
              <a:rPr lang="en-US" sz="13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9% 저렴</a:t>
            </a: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5:1에서 </a:t>
            </a:r>
            <a:r>
              <a:rPr lang="en-US" sz="13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24% 저렴</a:t>
            </a: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20:1에서는 </a:t>
            </a:r>
            <a:r>
              <a:rPr lang="en-US" sz="130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이점이 없음</a:t>
            </a: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쓸지 말지는 현장의 실제 비율로 결정.</a:t>
            </a:r>
            <a:endParaRPr lang="en-US" sz="1300" dirty="0"/>
          </a:p>
        </p:txBody>
      </p:sp>
      <p:pic>
        <p:nvPicPr>
          <p:cNvPr id="10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11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원인: 조건 구간별 불량률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812800" y="1143000"/>
            <a:ext cx="3359150" cy="381000"/>
          </a:xfrm>
          <a:prstGeom prst="roundRect">
            <a:avLst>
              <a:gd name="adj" fmla="val 50000"/>
            </a:avLst>
          </a:prstGeom>
          <a:solidFill>
            <a:srgbClr val="0B5A8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미충전 (Short_Shot)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400550" y="1143000"/>
            <a:ext cx="3359150" cy="381000"/>
          </a:xfrm>
          <a:prstGeom prst="roundRect">
            <a:avLst>
              <a:gd name="adj" fmla="val 50000"/>
            </a:avLst>
          </a:prstGeom>
          <a:solidFill>
            <a:srgbClr val="0B5A8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기공 (Blow_Hole)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994650" y="1143000"/>
            <a:ext cx="3359150" cy="381000"/>
          </a:xfrm>
          <a:prstGeom prst="roundRect">
            <a:avLst>
              <a:gd name="adj" fmla="val 50000"/>
            </a:avLst>
          </a:prstGeom>
          <a:solidFill>
            <a:srgbClr val="0B5A8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 (Exfoliation)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19150" y="1606550"/>
            <a:ext cx="334645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미충전 유형 2 High_Velocity 구간별 불량률 막대 그래프"/>
          <p:cNvPicPr>
            <a:picLocks noChangeAspect="1"/>
          </p:cNvPicPr>
          <p:nvPr/>
        </p:nvPicPr>
        <p:blipFill>
          <a:blip r:embed="rId5"/>
          <a:srcRect l="-472" r="-472"/>
          <a:stretch/>
        </p:blipFill>
        <p:spPr>
          <a:xfrm>
            <a:off x="825500" y="1612900"/>
            <a:ext cx="3359150" cy="26924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406900" y="1606550"/>
            <a:ext cx="334645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기공 유형 2 High_Velocity 구간별 불량률 막대 그래프"/>
          <p:cNvPicPr>
            <a:picLocks noChangeAspect="1"/>
          </p:cNvPicPr>
          <p:nvPr/>
        </p:nvPicPr>
        <p:blipFill>
          <a:blip r:embed="rId6"/>
          <a:srcRect l="-472" r="-472"/>
          <a:stretch/>
        </p:blipFill>
        <p:spPr>
          <a:xfrm>
            <a:off x="4413250" y="1612900"/>
            <a:ext cx="3359150" cy="26924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01000" y="1606550"/>
            <a:ext cx="334645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박리 유형 1 Spray_Time 구간별 불량률 막대 그래프"/>
          <p:cNvPicPr>
            <a:picLocks noChangeAspect="1"/>
          </p:cNvPicPr>
          <p:nvPr/>
        </p:nvPicPr>
        <p:blipFill>
          <a:blip r:embed="rId7"/>
          <a:srcRect l="-472" r="-472"/>
          <a:stretch/>
        </p:blipFill>
        <p:spPr>
          <a:xfrm>
            <a:off x="8007350" y="1612900"/>
            <a:ext cx="3359150" cy="26924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19150" y="4425950"/>
            <a:ext cx="3371850" cy="9398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/>
          <p:cNvSpPr/>
          <p:nvPr/>
        </p:nvSpPr>
        <p:spPr>
          <a:xfrm>
            <a:off x="1028700" y="4587280"/>
            <a:ext cx="3041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유형 2 · High_Velocity 2.537 초과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28700" y="4838700"/>
            <a:ext cx="304133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6A71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15.8% </a:t>
            </a:r>
            <a:r>
              <a:rPr lang="en-US" sz="24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5.3%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4406900" y="4425950"/>
            <a:ext cx="3371850" cy="9398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4616450" y="4587280"/>
            <a:ext cx="3041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유형 2 · High_Velocity 2.537 초과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616450" y="4838700"/>
            <a:ext cx="304133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6A71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12.3% </a:t>
            </a:r>
            <a:r>
              <a:rPr lang="en-US" sz="24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0.7%</a:t>
            </a:r>
            <a:endParaRPr lang="en-US" sz="2400" dirty="0"/>
          </a:p>
        </p:txBody>
      </p:sp>
      <p:sp>
        <p:nvSpPr>
          <p:cNvPr id="20" name="Shape 13"/>
          <p:cNvSpPr/>
          <p:nvPr/>
        </p:nvSpPr>
        <p:spPr>
          <a:xfrm>
            <a:off x="8001000" y="4425950"/>
            <a:ext cx="3371850" cy="9398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/>
          <p:cNvSpPr/>
          <p:nvPr/>
        </p:nvSpPr>
        <p:spPr>
          <a:xfrm>
            <a:off x="8210550" y="4587280"/>
            <a:ext cx="3041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4A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유형 1 · Spray_Time 8.1 초과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210550" y="4838700"/>
            <a:ext cx="304133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6A71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9.8% </a:t>
            </a:r>
            <a:r>
              <a:rPr lang="en-US" sz="2400" b="1" dirty="0">
                <a:solidFill>
                  <a:srgbClr val="167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1.8%</a:t>
            </a:r>
            <a:endParaRPr lang="en-US" sz="2400" dirty="0"/>
          </a:p>
        </p:txBody>
      </p:sp>
      <p:sp>
        <p:nvSpPr>
          <p:cNvPr id="23" name="Shape 16"/>
          <p:cNvSpPr/>
          <p:nvPr/>
        </p:nvSpPr>
        <p:spPr>
          <a:xfrm>
            <a:off x="812800" y="5461000"/>
            <a:ext cx="10566400" cy="533400"/>
          </a:xfrm>
          <a:prstGeom prst="roundRect">
            <a:avLst>
              <a:gd name="adj" fmla="val 19048"/>
            </a:avLst>
          </a:prstGeom>
          <a:solidFill>
            <a:srgbClr val="0B5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1016000" y="5612110"/>
            <a:ext cx="77207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D0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788071" y="5621040"/>
            <a:ext cx="96695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주황 막대는 평균보다 크게 낮거나 높은 구간. 같은 데이터에서 고른 구간이라 시험 생산(A/B)으로 확인 필요.</a:t>
            </a:r>
            <a:endParaRPr lang="en-US" sz="1200" dirty="0"/>
          </a:p>
        </p:txBody>
      </p:sp>
      <p:pic>
        <p:nvPicPr>
          <p:cNvPr id="26" name="Image 5" descr="POSCO"/>
          <p:cNvPicPr>
            <a:picLocks noChangeAspect="1"/>
          </p:cNvPicPr>
          <p:nvPr/>
        </p:nvPicPr>
        <p:blipFill>
          <a:blip r:embed="rId8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27" name="Image 6" descr="K-뉴딜아카데미"/>
          <p:cNvPicPr>
            <a:picLocks noChangeAspect="1"/>
          </p:cNvPicPr>
          <p:nvPr/>
        </p:nvPicPr>
        <p:blipFill>
          <a:blip r:embed="rId9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실험에서 배운 것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819150" y="1352550"/>
            <a:ext cx="3371850" cy="25908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/>
          <p:nvPr/>
        </p:nvSpPr>
        <p:spPr>
          <a:xfrm>
            <a:off x="1028700" y="15367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37A05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017193" y="1557040"/>
            <a:ext cx="964257" cy="289520"/>
          </a:xfrm>
          <a:prstGeom prst="roundRect">
            <a:avLst>
              <a:gd name="adj" fmla="val 43866"/>
            </a:avLst>
          </a:prstGeom>
          <a:solidFill>
            <a:srgbClr val="E3F4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7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유일한 상승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28700" y="1955800"/>
            <a:ext cx="304133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앞뒤 샷의 공정 조건 40개 추가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28700" y="2292350"/>
            <a:ext cx="304133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37A0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+0.0045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1028700" y="3035300"/>
            <a:ext cx="304133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유일하게 일관된 점수 상승. 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 샷만 또는 뒤 샷만 쓰면 효과 없음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6900" y="1352550"/>
            <a:ext cx="3371850" cy="25908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616450" y="15367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A717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745139" y="1557040"/>
            <a:ext cx="824061" cy="289520"/>
          </a:xfrm>
          <a:prstGeom prst="roundRect">
            <a:avLst>
              <a:gd name="adj" fmla="val 43866"/>
            </a:avLst>
          </a:prstGeom>
          <a:solidFill>
            <a:srgbClr val="E8EC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 없음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16450" y="1955800"/>
            <a:ext cx="304133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20여 가지 추가 시도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6450" y="2292350"/>
            <a:ext cx="304133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6A71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±0.005 이내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616450" y="3035300"/>
            <a:ext cx="316560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가중치·나무 크기·데이터 보강·이동평균 등. 반복할 때 흔들리는 폭(0.005)과 같은 수준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01000" y="1352550"/>
            <a:ext cx="3371850" cy="25908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8210550" y="15367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E04A0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339239" y="1557040"/>
            <a:ext cx="824061" cy="289520"/>
          </a:xfrm>
          <a:prstGeom prst="roundRect">
            <a:avLst>
              <a:gd name="adj" fmla="val 43866"/>
            </a:avLst>
          </a:prstGeom>
          <a:solidFill>
            <a:srgbClr val="FCE6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73A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하락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10550" y="1955800"/>
            <a:ext cx="304133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불량을 더 많이 부르는 시도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210550" y="2292350"/>
            <a:ext cx="304133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0.6125 → 0.6033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8210550" y="3009900"/>
            <a:ext cx="304133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포착은 63~67%로 늘었으나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경보도 늘어 점수 하락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12800" y="4330700"/>
            <a:ext cx="10566400" cy="1460500"/>
          </a:xfrm>
          <a:prstGeom prst="roundRect">
            <a:avLst>
              <a:gd name="adj" fmla="val 6957"/>
            </a:avLst>
          </a:prstGeom>
          <a:solidFill>
            <a:srgbClr val="0B5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1168400" y="4673600"/>
            <a:ext cx="101508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8FD0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모델이 평평한 정점, 한계는 모델 종류와 무관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1168400" y="5163790"/>
            <a:ext cx="1015085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9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 모델의 불량 구분 점수가 모두 0.72~0.75(0.5 찍기 ~ 1.0 완벽)</a:t>
            </a:r>
            <a:endParaRPr lang="en-US" sz="1600" dirty="0"/>
          </a:p>
        </p:txBody>
      </p:sp>
      <p:pic>
        <p:nvPicPr>
          <p:cNvPr id="26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27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제안: 내일 이걸 쓴다면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819150" y="1200150"/>
            <a:ext cx="5168900" cy="297180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/>
          <p:nvPr/>
        </p:nvSpPr>
        <p:spPr>
          <a:xfrm>
            <a:off x="1028700" y="13843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0B5A8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473200" y="1404640"/>
            <a:ext cx="19962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기준 낮추기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28700" y="1955800"/>
            <a:ext cx="4749800" cy="400050"/>
          </a:xfrm>
          <a:prstGeom prst="roundRect">
            <a:avLst>
              <a:gd name="adj" fmla="val 19048"/>
            </a:avLst>
          </a:prstGeom>
          <a:solidFill>
            <a:srgbClr val="E6F2FA"/>
          </a:solidFill>
          <a:ln/>
        </p:spPr>
        <p:txBody>
          <a:bodyPr wrap="square" lIns="104682" tIns="66582" rIns="0" bIns="41182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확률 ×0.1 적용 시 하루 </a:t>
            </a:r>
            <a:r>
              <a:rPr lang="en-US" sz="125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2,575샷(68%)</a:t>
            </a: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검사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28700" y="2444750"/>
            <a:ext cx="4749800" cy="400050"/>
          </a:xfrm>
          <a:prstGeom prst="roundRect">
            <a:avLst>
              <a:gd name="adj" fmla="val 19048"/>
            </a:avLst>
          </a:prstGeom>
          <a:solidFill>
            <a:srgbClr val="E6F2FA"/>
          </a:solidFill>
          <a:ln/>
        </p:spPr>
        <p:txBody>
          <a:bodyPr wrap="square" lIns="104682" tIns="66582" rIns="0" bIns="41182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놓침 </a:t>
            </a:r>
            <a:r>
              <a:rPr lang="en-US" sz="125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87건</a:t>
            </a: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헛경보 </a:t>
            </a:r>
            <a:r>
              <a:rPr lang="en-US" sz="125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1,810건</a:t>
            </a: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(하루 3,800샷 기준)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28700" y="2933700"/>
            <a:ext cx="4749800" cy="400050"/>
          </a:xfrm>
          <a:prstGeom prst="roundRect">
            <a:avLst>
              <a:gd name="adj" fmla="val 19048"/>
            </a:avLst>
          </a:prstGeom>
          <a:solidFill>
            <a:srgbClr val="E6F2FA"/>
          </a:solidFill>
          <a:ln/>
        </p:spPr>
        <p:txBody>
          <a:bodyPr wrap="square" lIns="104682" tIns="66582" rIns="0" bIns="41182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놓침 1건 = 헛경보 10건이면 전수 검사보다 </a:t>
            </a:r>
            <a:r>
              <a:rPr lang="en-US" sz="125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9% 저렴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028700" y="3422650"/>
            <a:ext cx="4749800" cy="400050"/>
          </a:xfrm>
          <a:prstGeom prst="roundRect">
            <a:avLst>
              <a:gd name="adj" fmla="val 19048"/>
            </a:avLst>
          </a:prstGeom>
          <a:solidFill>
            <a:srgbClr val="E6F2FA"/>
          </a:solidFill>
          <a:ln/>
        </p:spPr>
        <p:txBody>
          <a:bodyPr wrap="square" lIns="104682" tIns="66582" rIns="0" bIns="41182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위험한 샷 상위 20%를 먼저 검사하면 불량 </a:t>
            </a:r>
            <a:r>
              <a:rPr lang="en-US" sz="125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42% 발견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03950" y="1200150"/>
            <a:ext cx="5168900" cy="297180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413500" y="13843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1676B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858000" y="1404640"/>
            <a:ext cx="172985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관리 후보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413500" y="1955800"/>
            <a:ext cx="4749800" cy="622300"/>
          </a:xfrm>
          <a:prstGeom prst="roundRect">
            <a:avLst>
              <a:gd name="adj" fmla="val 12245"/>
            </a:avLst>
          </a:prstGeom>
          <a:solidFill>
            <a:srgbClr val="E6F2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6540500" y="2122190"/>
            <a:ext cx="948581" cy="289520"/>
          </a:xfrm>
          <a:prstGeom prst="roundRect">
            <a:avLst>
              <a:gd name="adj" fmla="val 43866"/>
            </a:avLst>
          </a:prstGeom>
          <a:solidFill>
            <a:srgbClr val="0B5A8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유형 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90681" y="2044700"/>
            <a:ext cx="151894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Spray_Time 8.1 초과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 9.8% → </a:t>
            </a:r>
            <a:r>
              <a:rPr lang="en-US" sz="125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1.8%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13500" y="2667000"/>
            <a:ext cx="4749800" cy="622300"/>
          </a:xfrm>
          <a:prstGeom prst="roundRect">
            <a:avLst>
              <a:gd name="adj" fmla="val 12245"/>
            </a:avLst>
          </a:prstGeom>
          <a:solidFill>
            <a:srgbClr val="E6F2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540500" y="2833390"/>
            <a:ext cx="948581" cy="289520"/>
          </a:xfrm>
          <a:prstGeom prst="roundRect">
            <a:avLst>
              <a:gd name="adj" fmla="val 43866"/>
            </a:avLst>
          </a:prstGeom>
          <a:solidFill>
            <a:srgbClr val="0B5A8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유형 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590681" y="2755900"/>
            <a:ext cx="319125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High_Velocity 2.537 초과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미충전 15.8% → </a:t>
            </a:r>
            <a:r>
              <a:rPr lang="en-US" sz="125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5.3%    </a:t>
            </a: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기공 12.3% → </a:t>
            </a:r>
            <a:r>
              <a:rPr lang="en-US" sz="125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0.7%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13500" y="3378200"/>
            <a:ext cx="4749800" cy="400050"/>
          </a:xfrm>
          <a:prstGeom prst="roundRect">
            <a:avLst>
              <a:gd name="adj" fmla="val 19048"/>
            </a:avLst>
          </a:prstGeom>
          <a:solidFill>
            <a:srgbClr val="FCE6DC"/>
          </a:solidFill>
          <a:ln/>
        </p:spPr>
        <p:txBody>
          <a:bodyPr wrap="square" lIns="104682" tIns="66582" rIns="0" bIns="41182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B73A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생산(A/B)으로 확인하기 전까지 관리 후보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12800" y="4356100"/>
            <a:ext cx="10566400" cy="1587500"/>
          </a:xfrm>
          <a:prstGeom prst="roundRect">
            <a:avLst>
              <a:gd name="adj" fmla="val 6400"/>
            </a:avLst>
          </a:prstGeom>
          <a:solidFill>
            <a:srgbClr val="0B5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1143000" y="4720580"/>
            <a:ext cx="27470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D0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헛경보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143000" y="4964410"/>
            <a:ext cx="2747010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D0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1,810건</a:t>
            </a:r>
            <a:endParaRPr lang="en-US" sz="4400" dirty="0"/>
          </a:p>
        </p:txBody>
      </p:sp>
      <p:sp>
        <p:nvSpPr>
          <p:cNvPr id="25" name="Text 21"/>
          <p:cNvSpPr/>
          <p:nvPr/>
        </p:nvSpPr>
        <p:spPr>
          <a:xfrm>
            <a:off x="4114800" y="4502448"/>
            <a:ext cx="7142226" cy="3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쓰면 하루 헛경보 1,810건입니다. 쓸지 말지는 이 선에서 정해 주세요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4114800" y="4882803"/>
            <a:ext cx="714222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6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비율은 가정(5:1이면 24% 저렴, 20:1이면 이점 없음)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6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조건이 없는 새 샷에서는 </a:t>
            </a:r>
            <a:r>
              <a:rPr lang="en-US" sz="1200" dirty="0" err="1">
                <a:solidFill>
                  <a:srgbClr val="CFE6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불량의</a:t>
            </a:r>
            <a:r>
              <a:rPr lang="en-US" sz="1200" dirty="0">
                <a:solidFill>
                  <a:srgbClr val="CFE6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10%만 포착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6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1안은 뒤 샷 정보가 필요해 사후 분석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6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일괄 선별용</a:t>
            </a:r>
            <a:endParaRPr lang="en-US" sz="1200" dirty="0"/>
          </a:p>
        </p:txBody>
      </p:sp>
      <p:pic>
        <p:nvPicPr>
          <p:cNvPr id="27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28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30" b="130"/>
          <a:stretch/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 t="2592" b="2592"/>
          <a:stretch/>
        </p:blipFill>
        <p:spPr>
          <a:xfrm>
            <a:off x="0" y="914400"/>
            <a:ext cx="12192000" cy="508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/>
          </p:nvPr>
        </p:nvSpPr>
        <p:spPr>
          <a:xfrm>
            <a:off x="406400" y="215900"/>
            <a:ext cx="1207376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사용과 검증으로 기각한 조언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812800" y="1155700"/>
            <a:ext cx="4318000" cy="355600"/>
          </a:xfrm>
          <a:prstGeom prst="roundRect">
            <a:avLst>
              <a:gd name="adj" fmla="val 50000"/>
            </a:avLst>
          </a:prstGeom>
          <a:solidFill>
            <a:srgbClr val="E04A0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조언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664200" y="1155700"/>
            <a:ext cx="5715000" cy="355600"/>
          </a:xfrm>
          <a:prstGeom prst="roundRect">
            <a:avLst>
              <a:gd name="adj" fmla="val 50000"/>
            </a:avLst>
          </a:prstGeom>
          <a:solidFill>
            <a:srgbClr val="0B5A8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19150" y="1670050"/>
            <a:ext cx="4305300" cy="1231900"/>
          </a:xfrm>
          <a:prstGeom prst="roundRect">
            <a:avLst>
              <a:gd name="adj" fmla="val 7732"/>
            </a:avLst>
          </a:prstGeom>
          <a:solidFill>
            <a:srgbClr val="FCE6DC"/>
          </a:solidFill>
          <a:ln w="12700">
            <a:solidFill>
              <a:srgbClr val="F3C2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1028700" y="21209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E04A0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98600" y="2156756"/>
            <a:ext cx="35187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2A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조건 샷의 정답을 찾아 쓰면 0.65~0.70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257800" y="209044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670550" y="1670050"/>
            <a:ext cx="5702300" cy="123190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5905500" y="1976785"/>
            <a:ext cx="460276" cy="246360"/>
          </a:xfrm>
          <a:custGeom>
            <a:avLst/>
            <a:gdLst/>
            <a:ahLst/>
            <a:cxnLst/>
            <a:rect l="l" t="t" r="r" b="b"/>
            <a:pathLst>
              <a:path w="460276" h="246360">
                <a:moveTo>
                  <a:pt x="114300" y="0"/>
                </a:moveTo>
                <a:lnTo>
                  <a:pt x="345976" y="0"/>
                </a:lnTo>
                <a:arcTo wR="114300" hR="114300" stAng="16200000" swAng="5400000"/>
                <a:lnTo>
                  <a:pt x="460276" y="132060"/>
                </a:lnTo>
                <a:arcTo wR="114300" hR="114300" stAng="0" swAng="5400000"/>
                <a:lnTo>
                  <a:pt x="114300" y="246360"/>
                </a:lnTo>
                <a:arcTo wR="114300" hR="1143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CE6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3A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기각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05500" y="2273945"/>
            <a:ext cx="22237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0.58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763744" y="2125563"/>
            <a:ext cx="232581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모의 계산에 그쳐 기각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규칙상 이웃 샷의 정답은 쓸 수 없음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9150" y="3067050"/>
            <a:ext cx="4305300" cy="1231900"/>
          </a:xfrm>
          <a:prstGeom prst="roundRect">
            <a:avLst>
              <a:gd name="adj" fmla="val 7732"/>
            </a:avLst>
          </a:prstGeom>
          <a:solidFill>
            <a:srgbClr val="FCE6DC"/>
          </a:solidFill>
          <a:ln w="12700">
            <a:solidFill>
              <a:srgbClr val="F3C2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1028700" y="35179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E04A0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498600" y="3549650"/>
            <a:ext cx="32038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2A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불량을 더 많이 부르면 점수도 상승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257800" y="348744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5670550" y="3067050"/>
            <a:ext cx="5702300" cy="123190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5905500" y="3373785"/>
            <a:ext cx="460276" cy="246360"/>
          </a:xfrm>
          <a:custGeom>
            <a:avLst/>
            <a:gdLst/>
            <a:ahLst/>
            <a:cxnLst/>
            <a:rect l="l" t="t" r="r" b="b"/>
            <a:pathLst>
              <a:path w="460276" h="246360">
                <a:moveTo>
                  <a:pt x="114300" y="0"/>
                </a:moveTo>
                <a:lnTo>
                  <a:pt x="345976" y="0"/>
                </a:lnTo>
                <a:arcTo wR="114300" hR="114300" stAng="16200000" swAng="5400000"/>
                <a:lnTo>
                  <a:pt x="460276" y="132060"/>
                </a:lnTo>
                <a:arcTo wR="114300" hR="114300" stAng="0" swAng="5400000"/>
                <a:lnTo>
                  <a:pt x="114300" y="246360"/>
                </a:lnTo>
                <a:arcTo wR="114300" hR="1143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CE6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3A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기각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905500" y="3670945"/>
            <a:ext cx="2367661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0.6125 → 0.6033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8763744" y="3522563"/>
            <a:ext cx="203149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포착률은 63~67%로 올랐으나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점수는 하락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19150" y="4464050"/>
            <a:ext cx="4305300" cy="1231900"/>
          </a:xfrm>
          <a:prstGeom prst="roundRect">
            <a:avLst>
              <a:gd name="adj" fmla="val 7732"/>
            </a:avLst>
          </a:prstGeom>
          <a:solidFill>
            <a:srgbClr val="FCE6DC"/>
          </a:solidFill>
          <a:ln w="12700">
            <a:solidFill>
              <a:srgbClr val="F3C2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1028700" y="49149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E04A0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498600" y="4946650"/>
            <a:ext cx="3619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2A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확률 ×0.3~0.4로 낮추면 0.6 초과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257800" y="488444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A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5670550" y="4464050"/>
            <a:ext cx="5702300" cy="123190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2700">
            <a:solidFill>
              <a:srgbClr val="C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5905500" y="4770785"/>
            <a:ext cx="460276" cy="246360"/>
          </a:xfrm>
          <a:custGeom>
            <a:avLst/>
            <a:gdLst/>
            <a:ahLst/>
            <a:cxnLst/>
            <a:rect l="l" t="t" r="r" b="b"/>
            <a:pathLst>
              <a:path w="460276" h="246360">
                <a:moveTo>
                  <a:pt x="114300" y="0"/>
                </a:moveTo>
                <a:lnTo>
                  <a:pt x="345976" y="0"/>
                </a:lnTo>
                <a:arcTo wR="114300" hR="114300" stAng="16200000" swAng="5400000"/>
                <a:lnTo>
                  <a:pt x="460276" y="132060"/>
                </a:lnTo>
                <a:arcTo wR="114300" hR="114300" stAng="0" swAng="5400000"/>
                <a:lnTo>
                  <a:pt x="114300" y="246360"/>
                </a:lnTo>
                <a:arcTo wR="114300" hR="1143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CE6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3A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기각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05500" y="5067945"/>
            <a:ext cx="22237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0.623 → 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8763744" y="4919563"/>
            <a:ext cx="247445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ko-KR" alt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검증 </a:t>
            </a:r>
            <a:r>
              <a:rPr lang="en-US" sz="1250" dirty="0" err="1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하락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0A2F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점수용 기각, 운영안에만 사용</a:t>
            </a:r>
            <a:endParaRPr lang="en-US" sz="1250" dirty="0"/>
          </a:p>
        </p:txBody>
      </p:sp>
      <p:pic>
        <p:nvPicPr>
          <p:cNvPr id="31" name="Image 2" descr="POSCO"/>
          <p:cNvPicPr>
            <a:picLocks noChangeAspect="1"/>
          </p:cNvPicPr>
          <p:nvPr/>
        </p:nvPicPr>
        <p:blipFill>
          <a:blip r:embed="rId5"/>
          <a:srcRect t="289" b="289"/>
          <a:stretch/>
        </p:blipFill>
        <p:spPr>
          <a:xfrm>
            <a:off x="10261600" y="6153150"/>
            <a:ext cx="1524000" cy="400050"/>
          </a:xfrm>
          <a:prstGeom prst="rect">
            <a:avLst/>
          </a:prstGeom>
        </p:spPr>
      </p:pic>
      <p:pic>
        <p:nvPicPr>
          <p:cNvPr id="32" name="Image 3" descr="K-뉴딜아카데미"/>
          <p:cNvPicPr>
            <a:picLocks noChangeAspect="1"/>
          </p:cNvPicPr>
          <p:nvPr/>
        </p:nvPicPr>
        <p:blipFill>
          <a:blip r:embed="rId6"/>
          <a:srcRect l="105" r="105"/>
          <a:stretch/>
        </p:blipFill>
        <p:spPr>
          <a:xfrm>
            <a:off x="406400" y="6121400"/>
            <a:ext cx="1270000" cy="4318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D9C6F1B-C1A2-E802-5EFF-D2546624C30A}"/>
              </a:ext>
            </a:extLst>
          </p:cNvPr>
          <p:cNvSpPr txBox="1"/>
          <p:nvPr/>
        </p:nvSpPr>
        <p:spPr>
          <a:xfrm>
            <a:off x="7064852" y="4843533"/>
            <a:ext cx="21288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0.599 (X0.4)</a:t>
            </a:r>
          </a:p>
          <a:p>
            <a:r>
              <a:rPr lang="en-US" altLang="ko-KR" sz="2000" b="1" dirty="0">
                <a:solidFill>
                  <a:srgbClr val="E04A0F"/>
                </a:solidFill>
                <a:latin typeface="Noto Sans KR" pitchFamily="34" charset="0"/>
                <a:ea typeface="Noto Sans KR" pitchFamily="34" charset="-122"/>
              </a:rPr>
              <a:t>0.580 (X0.3)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7B91A5-71D2-B8D8-4A69-BBDC5A5E2B34}"/>
              </a:ext>
            </a:extLst>
          </p:cNvPr>
          <p:cNvSpPr txBox="1"/>
          <p:nvPr/>
        </p:nvSpPr>
        <p:spPr>
          <a:xfrm>
            <a:off x="3769882" y="2802965"/>
            <a:ext cx="465223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b="1" dirty="0"/>
              <a:t>감사합니다</a:t>
            </a:r>
            <a:r>
              <a:rPr lang="en-US" altLang="ko-KR" sz="6600" b="1" dirty="0"/>
              <a:t>.</a:t>
            </a:r>
            <a:endParaRPr lang="ko-KR" alt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929532732"/>
      </p:ext>
    </p:extLst>
  </p:cSld>
  <p:clrMapOvr>
    <a:masterClrMapping/>
  </p:clrMapOvr>
</p:sld>
</file>

<file path=ppt/theme/theme1.xml><?xml version="1.0" encoding="utf-8"?>
<a:theme xmlns:a="http://schemas.openxmlformats.org/drawingml/2006/main" name="주조 불량 유형 예측 — 1조 최종 발표">
  <a:themeElements>
    <a:clrScheme name="주조 불량 유형 예측 — 1조 최종 발표">
      <a:dk1>
        <a:srgbClr val="0A2F4A"/>
      </a:dk1>
      <a:lt1>
        <a:srgbClr val="F2F8FC"/>
      </a:lt1>
      <a:dk2>
        <a:srgbClr val="446177"/>
      </a:dk2>
      <a:lt2>
        <a:srgbClr val="DBE4EA"/>
      </a:lt2>
      <a:accent1>
        <a:srgbClr val="0B5A8C"/>
      </a:accent1>
      <a:accent2>
        <a:srgbClr val="2E4A60"/>
      </a:accent2>
      <a:accent3>
        <a:srgbClr val="1676B2"/>
      </a:accent3>
      <a:accent4>
        <a:srgbClr val="E04A0F"/>
      </a:accent4>
      <a:accent5>
        <a:srgbClr val="0D4468"/>
      </a:accent5>
      <a:accent6>
        <a:srgbClr val="8FD0F5"/>
      </a:accent6>
      <a:hlink>
        <a:srgbClr val="0563C1"/>
      </a:hlink>
      <a:folHlink>
        <a:srgbClr val="954F72"/>
      </a:folHlink>
    </a:clrScheme>
    <a:fontScheme name="주조 불량 유형 예측 — 1조 최종 발표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1321</Words>
  <Application>Microsoft Office PowerPoint</Application>
  <PresentationFormat>와이드스크린</PresentationFormat>
  <Paragraphs>345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Noto Sans KR</vt:lpstr>
      <vt:lpstr>Arial</vt:lpstr>
      <vt:lpstr>주조 불량 유형 예측 — 1조 최종 발표</vt:lpstr>
      <vt:lpstr>주조 불량 유형 예측</vt:lpstr>
      <vt:lpstr>문제: 불량 유형을 미리 알 수 있는가</vt:lpstr>
      <vt:lpstr>데이터에서 찾은 것 4가지</vt:lpstr>
      <vt:lpstr>접근 방법: 기준 모델에서 최종 모델까지</vt:lpstr>
      <vt:lpstr>학습곡선: 데이터를 더 모으면 좋아지는가</vt:lpstr>
      <vt:lpstr>뭘 뭐로 착각했나: 놓친 불량 1,043건(90%)</vt:lpstr>
      <vt:lpstr>특징 중요도: 모델이 보는 공정 조건</vt:lpstr>
      <vt:lpstr>운영 기준 비용표(하루 3,800샷)</vt:lpstr>
      <vt:lpstr>불량 원인: 조건 구간별 불량률</vt:lpstr>
      <vt:lpstr>실험에서 배운 것</vt:lpstr>
      <vt:lpstr>현장 제안: 내일 이걸 쓴다면</vt:lpstr>
      <vt:lpstr>AI 사용과 검증으로 기각한 조언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주조 불량 유형 예측 — 1조 최종 발표</dc:title>
  <dc:subject/>
  <dc:creator/>
  <cp:lastModifiedBy>지수 김</cp:lastModifiedBy>
  <cp:revision>3</cp:revision>
  <dcterms:created xsi:type="dcterms:W3CDTF">2026-10-28T04:49:43Z</dcterms:created>
  <dcterms:modified xsi:type="dcterms:W3CDTF">2026-10-28T05:47:27Z</dcterms:modified>
</cp:coreProperties>
</file>